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88" d="100"/>
          <a:sy n="88" d="100"/>
        </p:scale>
        <p:origin x="-466" y="-77"/>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183F05-95BA-DB56-AF36-106C7A36F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C431102D-958F-D853-F942-9B52138B37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5F4A17B4-CA24-B968-FDD1-897C7342793C}"/>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5" name="Footer Placeholder 4">
            <a:extLst>
              <a:ext uri="{FF2B5EF4-FFF2-40B4-BE49-F238E27FC236}">
                <a16:creationId xmlns="" xmlns:a16="http://schemas.microsoft.com/office/drawing/2014/main" id="{8BEB55FD-C711-89EC-A055-63A35983F8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0A9C84D-965F-8F2A-512E-AF9DC82AD39C}"/>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1715097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6B6544-177A-BE0C-3A0F-33AF56EEF6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AD84422-D105-ED6A-96BA-9409E006D0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7468D85-CAF1-B9EF-332B-B78AD9AFC65A}"/>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5" name="Footer Placeholder 4">
            <a:extLst>
              <a:ext uri="{FF2B5EF4-FFF2-40B4-BE49-F238E27FC236}">
                <a16:creationId xmlns="" xmlns:a16="http://schemas.microsoft.com/office/drawing/2014/main" id="{244DA516-7F03-3CD8-F9F9-197F70A9E9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9610D93-8836-A410-4778-152C453903B3}"/>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1450031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940545-0844-DA30-42FD-D7AC674F00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73E7076-30F7-7993-322F-8443CDBA20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77D5ADD0-F8A4-0070-06A0-1F321ED7E873}"/>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5" name="Footer Placeholder 4">
            <a:extLst>
              <a:ext uri="{FF2B5EF4-FFF2-40B4-BE49-F238E27FC236}">
                <a16:creationId xmlns="" xmlns:a16="http://schemas.microsoft.com/office/drawing/2014/main" id="{215389FF-A66C-945D-B9B4-12E819C1E2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54B7E35-CA10-E35F-F9CD-E7B7100F4B31}"/>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733647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D4A5EC-D5DA-10BB-4341-6F3B3FEFBC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9BD15F0-12A3-CBA2-2C9C-42FCC6F53A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12A75997-F0E4-C2DF-A5A7-8D9A476E12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C5AA74FF-7C7B-A530-D7B3-97D44610CB9A}"/>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6" name="Footer Placeholder 5">
            <a:extLst>
              <a:ext uri="{FF2B5EF4-FFF2-40B4-BE49-F238E27FC236}">
                <a16:creationId xmlns="" xmlns:a16="http://schemas.microsoft.com/office/drawing/2014/main" id="{2A2FA550-57F2-44BC-475F-1DF9DFAD39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44800858-0B62-7375-298B-BD2DDFAD494B}"/>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2768506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1E7EE41-22E7-2096-E1D1-058A8D8994B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2259783-DDCF-11E0-04FE-7B7006B697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2D49CC28-ED84-4223-2C61-08D80693FE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FC850094-AA14-0FB2-5CE5-8D5B35F498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98E1232-8865-60DF-006E-E69BBC5EC2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98AD4AFE-8920-3083-BE0E-F3AA957DD279}"/>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8" name="Footer Placeholder 7">
            <a:extLst>
              <a:ext uri="{FF2B5EF4-FFF2-40B4-BE49-F238E27FC236}">
                <a16:creationId xmlns="" xmlns:a16="http://schemas.microsoft.com/office/drawing/2014/main" id="{3C974BB5-55E3-862D-2EE0-3224CFCBC0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7623E0B9-4029-0615-9ED8-43001202DA1C}"/>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79457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51ECFB-0FD5-1758-A654-B6816F5149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55AA0FAE-BFB0-66B9-205C-0BD471B35FC9}"/>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4" name="Footer Placeholder 3">
            <a:extLst>
              <a:ext uri="{FF2B5EF4-FFF2-40B4-BE49-F238E27FC236}">
                <a16:creationId xmlns="" xmlns:a16="http://schemas.microsoft.com/office/drawing/2014/main" id="{567ACB3B-BAE1-6B3A-72E9-709F34DF45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1DF50B65-71AC-1612-F068-6D5CC1E90694}"/>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3066841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4ADE235-E1CB-630D-1894-F7CFF635BB4F}"/>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3" name="Footer Placeholder 2">
            <a:extLst>
              <a:ext uri="{FF2B5EF4-FFF2-40B4-BE49-F238E27FC236}">
                <a16:creationId xmlns="" xmlns:a16="http://schemas.microsoft.com/office/drawing/2014/main" id="{3A4412EF-4EF9-93A1-BC0A-06F6F971D5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E6E100C9-E301-FA1A-CA5C-F36D53C8B8D8}"/>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2109143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B5F940-3E92-0B44-B9BD-6474595DA8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BE59316-DA86-D685-C950-B332DF14DF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2ADC2CAF-1659-C420-7B76-AC495AAEE6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3048034-A67D-8621-C64E-583BC5231BD8}"/>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6" name="Footer Placeholder 5">
            <a:extLst>
              <a:ext uri="{FF2B5EF4-FFF2-40B4-BE49-F238E27FC236}">
                <a16:creationId xmlns="" xmlns:a16="http://schemas.microsoft.com/office/drawing/2014/main" id="{41FA0A99-C298-587E-7148-F05594FC4A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5C10A67-1F22-1960-61F0-FA7A74E0AD19}"/>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671070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E2B44D-5632-89BD-C95F-95333D344B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F1B3C423-F7D5-A202-8BC2-336BD2A100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CDE6E000-6DCF-CD8C-7812-3D7AC9E939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26094BE0-435D-51C4-F128-1D86F08B3E6B}"/>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6" name="Footer Placeholder 5">
            <a:extLst>
              <a:ext uri="{FF2B5EF4-FFF2-40B4-BE49-F238E27FC236}">
                <a16:creationId xmlns="" xmlns:a16="http://schemas.microsoft.com/office/drawing/2014/main" id="{E41AE3A3-C750-3455-2F1A-E91BD3EFD7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9874D50F-7FC7-CE5C-E76A-F9120061E1BD}"/>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3804519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D219E-4B31-96EA-D4DC-98C7C02644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17A9E72-B190-4DCF-81F6-7A76AC0E79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96617BF-977F-5273-E458-164055F6487F}"/>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5" name="Footer Placeholder 4">
            <a:extLst>
              <a:ext uri="{FF2B5EF4-FFF2-40B4-BE49-F238E27FC236}">
                <a16:creationId xmlns="" xmlns:a16="http://schemas.microsoft.com/office/drawing/2014/main" id="{2712E1E8-6FD8-94FC-5ACB-74A0DF2792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00060F4-B871-B87C-A64A-0DD029F70C2D}"/>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2803179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162412E3-B9FE-61B2-C87E-0082B45BDD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2F94CC25-F77E-E4DD-A822-30711AFD2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F1FECAA-2C7F-C568-B779-B3D19BA0F8B9}"/>
              </a:ext>
            </a:extLst>
          </p:cNvPr>
          <p:cNvSpPr>
            <a:spLocks noGrp="1"/>
          </p:cNvSpPr>
          <p:nvPr>
            <p:ph type="dt" sz="half" idx="10"/>
          </p:nvPr>
        </p:nvSpPr>
        <p:spPr/>
        <p:txBody>
          <a:bodyPr/>
          <a:lstStyle/>
          <a:p>
            <a:fld id="{A7917293-34EF-4E0F-BC50-B83B8414924A}" type="datetimeFigureOut">
              <a:rPr lang="en-IN" smtClean="0"/>
              <a:pPr/>
              <a:t>30-11-2023</a:t>
            </a:fld>
            <a:endParaRPr lang="en-IN"/>
          </a:p>
        </p:txBody>
      </p:sp>
      <p:sp>
        <p:nvSpPr>
          <p:cNvPr id="5" name="Footer Placeholder 4">
            <a:extLst>
              <a:ext uri="{FF2B5EF4-FFF2-40B4-BE49-F238E27FC236}">
                <a16:creationId xmlns="" xmlns:a16="http://schemas.microsoft.com/office/drawing/2014/main" id="{5C5476BE-B011-03D2-49DF-BBE31213B0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4586D29-E7E1-7CEA-01A1-F3B8E871544E}"/>
              </a:ext>
            </a:extLst>
          </p:cNvPr>
          <p:cNvSpPr>
            <a:spLocks noGrp="1"/>
          </p:cNvSpPr>
          <p:nvPr>
            <p:ph type="sldNum" sz="quarter" idx="12"/>
          </p:nvPr>
        </p:nvSpPr>
        <p:spPr/>
        <p:txBody>
          <a:body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1571423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D678D82C-B10F-55FF-B7C2-FFF529DBC3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60EC657-D86F-2D74-920A-9D731F54D7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98A4BC6-BDB3-5889-9300-F68DAA8025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917293-34EF-4E0F-BC50-B83B8414924A}" type="datetimeFigureOut">
              <a:rPr lang="en-IN" smtClean="0"/>
              <a:pPr/>
              <a:t>30-11-2023</a:t>
            </a:fld>
            <a:endParaRPr lang="en-IN"/>
          </a:p>
        </p:txBody>
      </p:sp>
      <p:sp>
        <p:nvSpPr>
          <p:cNvPr id="5" name="Footer Placeholder 4">
            <a:extLst>
              <a:ext uri="{FF2B5EF4-FFF2-40B4-BE49-F238E27FC236}">
                <a16:creationId xmlns="" xmlns:a16="http://schemas.microsoft.com/office/drawing/2014/main" id="{06FA9766-E8AB-1172-EF07-854873606D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BC1CFA67-EDDA-92EE-F375-6EEAB9B7DB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721BC2-9456-4936-B206-136F7251726E}" type="slidenum">
              <a:rPr lang="en-IN" smtClean="0"/>
              <a:pPr/>
              <a:t>‹#›</a:t>
            </a:fld>
            <a:endParaRPr lang="en-IN"/>
          </a:p>
        </p:txBody>
      </p:sp>
    </p:spTree>
    <p:extLst>
      <p:ext uri="{BB962C8B-B14F-4D97-AF65-F5344CB8AC3E}">
        <p14:creationId xmlns="" xmlns:p14="http://schemas.microsoft.com/office/powerpoint/2010/main" val="2420777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dax/date-and-time-functions-dax" TargetMode="External"/><Relationship Id="rId2" Type="http://schemas.openxmlformats.org/officeDocument/2006/relationships/hyperlink" Target="https://learn.microsoft.com/en-us/dax/aggregation-functions-dax" TargetMode="External"/><Relationship Id="rId1" Type="http://schemas.openxmlformats.org/officeDocument/2006/relationships/slideLayout" Target="../slideLayouts/slideLayout1.xml"/><Relationship Id="rId5" Type="http://schemas.openxmlformats.org/officeDocument/2006/relationships/hyperlink" Target="https://learn.microsoft.com/en-us/dax/parent-and-child-functions-dax" TargetMode="External"/><Relationship Id="rId4" Type="http://schemas.openxmlformats.org/officeDocument/2006/relationships/hyperlink" Target="https://learn.microsoft.com/en-us/dax/filter-functions-dax"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dax/information-functions-dax" TargetMode="External"/><Relationship Id="rId2" Type="http://schemas.openxmlformats.org/officeDocument/2006/relationships/hyperlink" Target="https://learn.microsoft.com/en-us/dax/aggregation-functions-dax" TargetMode="External"/><Relationship Id="rId1" Type="http://schemas.openxmlformats.org/officeDocument/2006/relationships/slideLayout" Target="../slideLayouts/slideLayout1.xml"/><Relationship Id="rId5" Type="http://schemas.openxmlformats.org/officeDocument/2006/relationships/hyperlink" Target="https://learn.microsoft.com/en-us/dax/math-and-trig-functions-dax" TargetMode="External"/><Relationship Id="rId4" Type="http://schemas.openxmlformats.org/officeDocument/2006/relationships/hyperlink" Target="https://learn.microsoft.com/en-us/dax/logical-functions-dax"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learn.microsoft.com/en-us/dax/relationship-functions-dax"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dax/text-functions-dax" TargetMode="External"/><Relationship Id="rId2" Type="http://schemas.openxmlformats.org/officeDocument/2006/relationships/hyperlink" Target="https://learn.microsoft.com/en-us/dax/table-manipulation-functions-dax" TargetMode="External"/><Relationship Id="rId1" Type="http://schemas.openxmlformats.org/officeDocument/2006/relationships/slideLayout" Target="../slideLayouts/slideLayout1.xml"/><Relationship Id="rId4" Type="http://schemas.openxmlformats.org/officeDocument/2006/relationships/hyperlink" Target="https://learn.microsoft.com/en-us/dax/time-intelligence-functions-dax"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DAX Expressions</a:t>
            </a:r>
            <a:endParaRPr lang="en-IN" dirty="0"/>
          </a:p>
        </p:txBody>
      </p:sp>
      <p:sp>
        <p:nvSpPr>
          <p:cNvPr id="3" name="Subtitle 2">
            <a:extLst>
              <a:ext uri="{FF2B5EF4-FFF2-40B4-BE49-F238E27FC236}">
                <a16:creationId xmlns="" xmlns:a16="http://schemas.microsoft.com/office/drawing/2014/main" id="{30FB14C4-5FC1-B885-D626-F9B680DB9FDE}"/>
              </a:ext>
            </a:extLst>
          </p:cNvPr>
          <p:cNvSpPr>
            <a:spLocks noGrp="1"/>
          </p:cNvSpPr>
          <p:nvPr>
            <p:ph type="subTitle" idx="1"/>
          </p:nvPr>
        </p:nvSpPr>
        <p:spPr>
          <a:xfrm>
            <a:off x="417249" y="1600200"/>
            <a:ext cx="11505461" cy="4631924"/>
          </a:xfrm>
        </p:spPr>
        <p:txBody>
          <a:bodyPr>
            <a:normAutofit/>
          </a:bodyPr>
          <a:lstStyle/>
          <a:p>
            <a:pPr marL="457200" indent="-457200" algn="just">
              <a:buFont typeface="Arial" panose="020B0604020202020204" pitchFamily="34" charset="0"/>
              <a:buChar char="•"/>
            </a:pPr>
            <a:r>
              <a:rPr lang="en-US" sz="3200" dirty="0"/>
              <a:t>Data Analysis Expressions (DAX) is a formula expression language used in Power BI</a:t>
            </a:r>
          </a:p>
          <a:p>
            <a:pPr marL="457200" indent="-457200" algn="just">
              <a:buFont typeface="Arial" panose="020B0604020202020204" pitchFamily="34" charset="0"/>
              <a:buChar char="•"/>
            </a:pPr>
            <a:r>
              <a:rPr lang="en-US" sz="3200" dirty="0"/>
              <a:t>DAX formulas include </a:t>
            </a:r>
            <a:r>
              <a:rPr lang="en-US" sz="3200" b="1" dirty="0"/>
              <a:t>functions, operators, and values</a:t>
            </a:r>
            <a:r>
              <a:rPr lang="en-US" sz="3200" dirty="0"/>
              <a:t> to perform advanced calculations and queries on data in related tables and columns in tabular data models.</a:t>
            </a:r>
          </a:p>
          <a:p>
            <a:pPr marL="457200" indent="-457200" algn="just">
              <a:buFont typeface="Arial" panose="020B0604020202020204" pitchFamily="34" charset="0"/>
              <a:buChar char="•"/>
            </a:pPr>
            <a:r>
              <a:rPr lang="en-US" sz="3200" dirty="0"/>
              <a:t>DAX function reference provides detailed information including syntax, parameters, return values, and examples for each of the </a:t>
            </a:r>
            <a:r>
              <a:rPr lang="en-US" sz="3200" b="1" dirty="0"/>
              <a:t>over 250 functions used in Data Analysis Expression (DAX) </a:t>
            </a:r>
            <a:r>
              <a:rPr lang="en-US" sz="3200" dirty="0"/>
              <a:t>formulas</a:t>
            </a:r>
          </a:p>
          <a:p>
            <a:pPr algn="just"/>
            <a:endParaRPr lang="en-IN" sz="3200" dirty="0"/>
          </a:p>
        </p:txBody>
      </p:sp>
    </p:spTree>
    <p:extLst>
      <p:ext uri="{BB962C8B-B14F-4D97-AF65-F5344CB8AC3E}">
        <p14:creationId xmlns="" xmlns:p14="http://schemas.microsoft.com/office/powerpoint/2010/main" val="23020301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DAX Expressions</a:t>
            </a:r>
            <a:endParaRPr lang="en-IN" dirty="0"/>
          </a:p>
        </p:txBody>
      </p:sp>
      <p:sp>
        <p:nvSpPr>
          <p:cNvPr id="3" name="Subtitle 2">
            <a:extLst>
              <a:ext uri="{FF2B5EF4-FFF2-40B4-BE49-F238E27FC236}">
                <a16:creationId xmlns="" xmlns:a16="http://schemas.microsoft.com/office/drawing/2014/main" id="{30FB14C4-5FC1-B885-D626-F9B680DB9FDE}"/>
              </a:ext>
            </a:extLst>
          </p:cNvPr>
          <p:cNvSpPr>
            <a:spLocks noGrp="1"/>
          </p:cNvSpPr>
          <p:nvPr>
            <p:ph type="subTitle" idx="1"/>
          </p:nvPr>
        </p:nvSpPr>
        <p:spPr>
          <a:xfrm>
            <a:off x="408373" y="1260629"/>
            <a:ext cx="11514337" cy="4971495"/>
          </a:xfrm>
        </p:spPr>
        <p:txBody>
          <a:bodyPr>
            <a:normAutofit fontScale="70000" lnSpcReduction="20000"/>
          </a:bodyPr>
          <a:lstStyle/>
          <a:p>
            <a:pPr algn="l"/>
            <a:r>
              <a:rPr lang="en-US" sz="3600" b="1" i="0" dirty="0">
                <a:solidFill>
                  <a:srgbClr val="161616"/>
                </a:solidFill>
                <a:effectLst/>
                <a:latin typeface="Arial Black" panose="020B0A04020102020204" pitchFamily="34" charset="0"/>
              </a:rPr>
              <a:t/>
            </a:r>
            <a:br>
              <a:rPr lang="en-US" sz="3600" b="1" i="0" dirty="0">
                <a:solidFill>
                  <a:srgbClr val="161616"/>
                </a:solidFill>
                <a:effectLst/>
                <a:latin typeface="Arial Black" panose="020B0A04020102020204" pitchFamily="34" charset="0"/>
              </a:rPr>
            </a:br>
            <a:r>
              <a:rPr lang="en-US" sz="5100" b="1" dirty="0"/>
              <a:t>Calculated column</a:t>
            </a:r>
          </a:p>
          <a:p>
            <a:pPr marL="457200" indent="-457200" algn="l">
              <a:buFont typeface="Arial" panose="020B0604020202020204" pitchFamily="34" charset="0"/>
              <a:buChar char="•"/>
            </a:pPr>
            <a:r>
              <a:rPr lang="en-US" sz="3500" dirty="0"/>
              <a:t>A model calculation used to add a column to a tabular model by writing a DAX formula. The formula must return a scalar value, and it's evaluated for each row in the table. A calculated column can be added to an Import or </a:t>
            </a:r>
            <a:r>
              <a:rPr lang="en-US" sz="3500" dirty="0" err="1"/>
              <a:t>DirectQuery</a:t>
            </a:r>
            <a:r>
              <a:rPr lang="en-US" sz="3500" dirty="0"/>
              <a:t> storage mode table.</a:t>
            </a:r>
          </a:p>
          <a:p>
            <a:pPr algn="l"/>
            <a:r>
              <a:rPr lang="en-US" sz="5100" b="1" dirty="0"/>
              <a:t>Calculated measure</a:t>
            </a:r>
          </a:p>
          <a:p>
            <a:pPr marL="457200" indent="-457200" algn="l">
              <a:buFont typeface="Arial" panose="020B0604020202020204" pitchFamily="34" charset="0"/>
              <a:buChar char="•"/>
            </a:pPr>
            <a:r>
              <a:rPr lang="en-US" sz="3500" dirty="0"/>
              <a:t>The word calculated is used to describe calculated tables and calculated columns. It distinguishes them from tables and columns that originate from Power Query. </a:t>
            </a:r>
          </a:p>
          <a:p>
            <a:pPr algn="l"/>
            <a:r>
              <a:rPr lang="en-US" sz="5100" b="1" dirty="0"/>
              <a:t>Calculated table</a:t>
            </a:r>
          </a:p>
          <a:p>
            <a:pPr marL="457200" indent="-457200" algn="l">
              <a:buFont typeface="Arial" panose="020B0604020202020204" pitchFamily="34" charset="0"/>
              <a:buChar char="•"/>
            </a:pPr>
            <a:r>
              <a:rPr lang="en-US" sz="3500" dirty="0"/>
              <a:t>A model calculation used to add a table to a tabular model by writing a DAX formula. The formula must return a table object. It results in a table that uses Import storage mode.</a:t>
            </a:r>
          </a:p>
          <a:p>
            <a:pPr algn="just"/>
            <a:endParaRPr lang="en-IN" sz="3200" dirty="0"/>
          </a:p>
        </p:txBody>
      </p:sp>
    </p:spTree>
    <p:extLst>
      <p:ext uri="{BB962C8B-B14F-4D97-AF65-F5344CB8AC3E}">
        <p14:creationId xmlns="" xmlns:p14="http://schemas.microsoft.com/office/powerpoint/2010/main" val="4976702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DAX Expressions</a:t>
            </a:r>
            <a:endParaRPr lang="en-IN" dirty="0"/>
          </a:p>
        </p:txBody>
      </p:sp>
      <p:sp>
        <p:nvSpPr>
          <p:cNvPr id="3" name="Subtitle 2">
            <a:extLst>
              <a:ext uri="{FF2B5EF4-FFF2-40B4-BE49-F238E27FC236}">
                <a16:creationId xmlns="" xmlns:a16="http://schemas.microsoft.com/office/drawing/2014/main" id="{30FB14C4-5FC1-B885-D626-F9B680DB9FDE}"/>
              </a:ext>
            </a:extLst>
          </p:cNvPr>
          <p:cNvSpPr>
            <a:spLocks noGrp="1"/>
          </p:cNvSpPr>
          <p:nvPr>
            <p:ph type="subTitle" idx="1"/>
          </p:nvPr>
        </p:nvSpPr>
        <p:spPr>
          <a:xfrm>
            <a:off x="310719" y="958789"/>
            <a:ext cx="11611992" cy="5273336"/>
          </a:xfrm>
        </p:spPr>
        <p:txBody>
          <a:bodyPr>
            <a:normAutofit fontScale="62500" lnSpcReduction="20000"/>
          </a:bodyPr>
          <a:lstStyle/>
          <a:p>
            <a:pPr algn="l"/>
            <a:r>
              <a:rPr lang="en-US" sz="3600" b="1" i="0" dirty="0">
                <a:solidFill>
                  <a:srgbClr val="161616"/>
                </a:solidFill>
                <a:effectLst/>
              </a:rPr>
              <a:t/>
            </a:r>
            <a:br>
              <a:rPr lang="en-US" sz="3600" b="1" i="0" dirty="0">
                <a:solidFill>
                  <a:srgbClr val="161616"/>
                </a:solidFill>
                <a:effectLst/>
              </a:rPr>
            </a:br>
            <a:r>
              <a:rPr lang="en-US" sz="6400" b="1" i="0" dirty="0">
                <a:solidFill>
                  <a:srgbClr val="161616"/>
                </a:solidFill>
                <a:effectLst/>
                <a:latin typeface="+mj-lt"/>
              </a:rPr>
              <a:t>Implicit measure</a:t>
            </a:r>
          </a:p>
          <a:p>
            <a:pPr marL="571500" indent="-571500" algn="l">
              <a:buFont typeface="Arial" panose="020B0604020202020204" pitchFamily="34" charset="0"/>
              <a:buChar char="•"/>
            </a:pPr>
            <a:r>
              <a:rPr lang="en-US" sz="4400" b="0" i="0" dirty="0">
                <a:solidFill>
                  <a:srgbClr val="161616"/>
                </a:solidFill>
                <a:effectLst/>
              </a:rPr>
              <a:t>Automatically generated calculation achieved by configuring a Power BI visual to </a:t>
            </a:r>
            <a:r>
              <a:rPr lang="en-US" sz="4400" b="1" i="0" dirty="0">
                <a:solidFill>
                  <a:srgbClr val="161616"/>
                </a:solidFill>
                <a:effectLst/>
              </a:rPr>
              <a:t>summarize column </a:t>
            </a:r>
            <a:r>
              <a:rPr lang="en-US" sz="4400" b="0" i="0" dirty="0">
                <a:solidFill>
                  <a:srgbClr val="161616"/>
                </a:solidFill>
                <a:effectLst/>
              </a:rPr>
              <a:t>values. </a:t>
            </a:r>
          </a:p>
          <a:p>
            <a:pPr marL="571500" indent="-571500" algn="l">
              <a:buFont typeface="Arial" panose="020B0604020202020204" pitchFamily="34" charset="0"/>
              <a:buChar char="•"/>
            </a:pPr>
            <a:r>
              <a:rPr lang="en-US" sz="4400" b="1" i="0" dirty="0">
                <a:solidFill>
                  <a:srgbClr val="161616"/>
                </a:solidFill>
                <a:effectLst/>
              </a:rPr>
              <a:t>Numeric</a:t>
            </a:r>
            <a:r>
              <a:rPr lang="en-US" sz="4400" b="0" i="0" dirty="0">
                <a:solidFill>
                  <a:srgbClr val="161616"/>
                </a:solidFill>
                <a:effectLst/>
              </a:rPr>
              <a:t> columns support the greatest range of summarization, </a:t>
            </a:r>
          </a:p>
          <a:p>
            <a:pPr marL="571500" indent="-571500" algn="l">
              <a:buFont typeface="Arial" panose="020B0604020202020204" pitchFamily="34" charset="0"/>
              <a:buChar char="•"/>
            </a:pPr>
            <a:r>
              <a:rPr lang="en-US" sz="4400" b="1" dirty="0">
                <a:solidFill>
                  <a:srgbClr val="161616"/>
                </a:solidFill>
              </a:rPr>
              <a:t>S</a:t>
            </a:r>
            <a:r>
              <a:rPr lang="en-US" sz="4400" b="1" i="0" dirty="0">
                <a:solidFill>
                  <a:srgbClr val="161616"/>
                </a:solidFill>
                <a:effectLst/>
              </a:rPr>
              <a:t>um, Average, Minimum, Maximum, Count (Distinct), Count, Standard deviation, Variance, or Median. </a:t>
            </a:r>
          </a:p>
          <a:p>
            <a:pPr marL="571500" indent="-571500" algn="l">
              <a:buFont typeface="Arial" panose="020B0604020202020204" pitchFamily="34" charset="0"/>
              <a:buChar char="•"/>
            </a:pPr>
            <a:r>
              <a:rPr lang="en-US" sz="4400" b="0" i="0" dirty="0">
                <a:solidFill>
                  <a:srgbClr val="161616"/>
                </a:solidFill>
                <a:effectLst/>
              </a:rPr>
              <a:t>Columns of other data types can be summarized, too. </a:t>
            </a:r>
          </a:p>
          <a:p>
            <a:pPr marL="571500" indent="-571500" algn="l">
              <a:buFont typeface="Arial" panose="020B0604020202020204" pitchFamily="34" charset="0"/>
              <a:buChar char="•"/>
            </a:pPr>
            <a:r>
              <a:rPr lang="en-US" sz="4400" b="1" i="0" dirty="0">
                <a:solidFill>
                  <a:srgbClr val="161616"/>
                </a:solidFill>
                <a:effectLst/>
              </a:rPr>
              <a:t>Text</a:t>
            </a:r>
            <a:r>
              <a:rPr lang="en-US" sz="4400" b="0" i="0" dirty="0">
                <a:solidFill>
                  <a:srgbClr val="161616"/>
                </a:solidFill>
                <a:effectLst/>
              </a:rPr>
              <a:t> columns can be summarized by using: </a:t>
            </a:r>
          </a:p>
          <a:p>
            <a:pPr marL="571500" indent="-571500" algn="l">
              <a:buFont typeface="Arial" panose="020B0604020202020204" pitchFamily="34" charset="0"/>
              <a:buChar char="•"/>
            </a:pPr>
            <a:r>
              <a:rPr lang="en-US" sz="4400" b="0" i="0" dirty="0">
                <a:solidFill>
                  <a:srgbClr val="161616"/>
                </a:solidFill>
                <a:effectLst/>
              </a:rPr>
              <a:t>First (alphabetically), Last (alphabetically), Count (Distinct), or Count. </a:t>
            </a:r>
          </a:p>
          <a:p>
            <a:pPr marL="571500" indent="-571500" algn="l">
              <a:buFont typeface="Arial" panose="020B0604020202020204" pitchFamily="34" charset="0"/>
              <a:buChar char="•"/>
            </a:pPr>
            <a:r>
              <a:rPr lang="en-US" sz="4400" b="1" i="0" dirty="0">
                <a:solidFill>
                  <a:srgbClr val="161616"/>
                </a:solidFill>
                <a:effectLst/>
              </a:rPr>
              <a:t>Date</a:t>
            </a:r>
            <a:r>
              <a:rPr lang="en-US" sz="4400" b="0" i="0" dirty="0">
                <a:solidFill>
                  <a:srgbClr val="161616"/>
                </a:solidFill>
                <a:effectLst/>
              </a:rPr>
              <a:t> columns can be summarized by using: Earliest, Latest, Count (Distinct), or Count. </a:t>
            </a:r>
            <a:r>
              <a:rPr lang="en-US" sz="4400" b="1" i="0" dirty="0">
                <a:solidFill>
                  <a:srgbClr val="161616"/>
                </a:solidFill>
                <a:effectLst/>
              </a:rPr>
              <a:t>Boolean</a:t>
            </a:r>
            <a:r>
              <a:rPr lang="en-US" sz="4400" b="0" i="0" dirty="0">
                <a:solidFill>
                  <a:srgbClr val="161616"/>
                </a:solidFill>
                <a:effectLst/>
              </a:rPr>
              <a:t> columns can be summarized by using: Count (Distinct), or Count.</a:t>
            </a:r>
          </a:p>
          <a:p>
            <a:pPr algn="just"/>
            <a:endParaRPr lang="en-IN" sz="3200" dirty="0"/>
          </a:p>
        </p:txBody>
      </p:sp>
    </p:spTree>
    <p:extLst>
      <p:ext uri="{BB962C8B-B14F-4D97-AF65-F5344CB8AC3E}">
        <p14:creationId xmlns="" xmlns:p14="http://schemas.microsoft.com/office/powerpoint/2010/main" val="10427520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DAX Expressions</a:t>
            </a:r>
            <a:endParaRPr lang="en-IN" dirty="0"/>
          </a:p>
        </p:txBody>
      </p:sp>
      <p:sp>
        <p:nvSpPr>
          <p:cNvPr id="3" name="Subtitle 2">
            <a:extLst>
              <a:ext uri="{FF2B5EF4-FFF2-40B4-BE49-F238E27FC236}">
                <a16:creationId xmlns="" xmlns:a16="http://schemas.microsoft.com/office/drawing/2014/main" id="{30FB14C4-5FC1-B885-D626-F9B680DB9FDE}"/>
              </a:ext>
            </a:extLst>
          </p:cNvPr>
          <p:cNvSpPr>
            <a:spLocks noGrp="1"/>
          </p:cNvSpPr>
          <p:nvPr>
            <p:ph type="subTitle" idx="1"/>
          </p:nvPr>
        </p:nvSpPr>
        <p:spPr>
          <a:xfrm>
            <a:off x="399495" y="1103713"/>
            <a:ext cx="11523215" cy="5128411"/>
          </a:xfrm>
        </p:spPr>
        <p:txBody>
          <a:bodyPr>
            <a:normAutofit/>
          </a:bodyPr>
          <a:lstStyle/>
          <a:p>
            <a:pPr algn="l"/>
            <a:r>
              <a:rPr lang="en-US" sz="2800" b="1" i="0" dirty="0">
                <a:solidFill>
                  <a:srgbClr val="161616"/>
                </a:solidFill>
                <a:effectLst/>
              </a:rPr>
              <a:t>Explicit Measure</a:t>
            </a:r>
          </a:p>
          <a:p>
            <a:pPr marL="457200" indent="-457200" algn="l">
              <a:buFont typeface="Arial" panose="020B0604020202020204" pitchFamily="34" charset="0"/>
              <a:buChar char="•"/>
            </a:pPr>
            <a:r>
              <a:rPr lang="en-US" sz="2800" b="0" i="0" dirty="0">
                <a:solidFill>
                  <a:srgbClr val="161616"/>
                </a:solidFill>
                <a:effectLst/>
              </a:rPr>
              <a:t>An explicit measure is a calculation added to a tabular data model by writing a DAX formula. </a:t>
            </a:r>
          </a:p>
          <a:p>
            <a:pPr marL="457200" indent="-457200" algn="l">
              <a:buFont typeface="Arial" panose="020B0604020202020204" pitchFamily="34" charset="0"/>
              <a:buChar char="•"/>
            </a:pPr>
            <a:r>
              <a:rPr lang="en-US" sz="2800" b="0" i="0" dirty="0">
                <a:solidFill>
                  <a:srgbClr val="161616"/>
                </a:solidFill>
                <a:effectLst/>
              </a:rPr>
              <a:t>A </a:t>
            </a:r>
            <a:r>
              <a:rPr lang="en-US" sz="2800" b="1" i="0" dirty="0">
                <a:solidFill>
                  <a:srgbClr val="161616"/>
                </a:solidFill>
                <a:effectLst/>
              </a:rPr>
              <a:t>measure formula must return a scalar value</a:t>
            </a:r>
            <a:r>
              <a:rPr lang="en-US" sz="2800" b="0" i="0" dirty="0">
                <a:solidFill>
                  <a:srgbClr val="161616"/>
                </a:solidFill>
                <a:effectLst/>
              </a:rPr>
              <a:t>. In the </a:t>
            </a:r>
            <a:r>
              <a:rPr lang="en-US" sz="2800" b="1" i="0" dirty="0">
                <a:solidFill>
                  <a:srgbClr val="161616"/>
                </a:solidFill>
                <a:effectLst/>
              </a:rPr>
              <a:t>Fields</a:t>
            </a:r>
            <a:r>
              <a:rPr lang="en-US" sz="2800" b="0" i="0" dirty="0">
                <a:solidFill>
                  <a:srgbClr val="161616"/>
                </a:solidFill>
                <a:effectLst/>
              </a:rPr>
              <a:t> pane, explicit measures are adorned with a calculator icon. </a:t>
            </a:r>
          </a:p>
          <a:p>
            <a:pPr marL="457200" indent="-457200" algn="l">
              <a:buFont typeface="Arial" panose="020B0604020202020204" pitchFamily="34" charset="0"/>
              <a:buChar char="•"/>
            </a:pPr>
            <a:r>
              <a:rPr lang="en-US" sz="2800" b="0" i="0" dirty="0">
                <a:solidFill>
                  <a:srgbClr val="161616"/>
                </a:solidFill>
                <a:effectLst/>
              </a:rPr>
              <a:t>An </a:t>
            </a:r>
            <a:r>
              <a:rPr lang="en-US" sz="2800" i="0" dirty="0">
                <a:solidFill>
                  <a:srgbClr val="161616"/>
                </a:solidFill>
                <a:effectLst/>
              </a:rPr>
              <a:t>explicit measure is commonly just called a measure</a:t>
            </a:r>
            <a:endParaRPr lang="en-IN" sz="3200" dirty="0"/>
          </a:p>
        </p:txBody>
      </p:sp>
      <p:sp>
        <p:nvSpPr>
          <p:cNvPr id="5" name="TextBox 4">
            <a:extLst>
              <a:ext uri="{FF2B5EF4-FFF2-40B4-BE49-F238E27FC236}">
                <a16:creationId xmlns="" xmlns:a16="http://schemas.microsoft.com/office/drawing/2014/main" id="{AFBE98DA-3364-48A6-3721-B2198D0CF9AD}"/>
              </a:ext>
            </a:extLst>
          </p:cNvPr>
          <p:cNvSpPr txBox="1"/>
          <p:nvPr/>
        </p:nvSpPr>
        <p:spPr>
          <a:xfrm>
            <a:off x="399494" y="4180344"/>
            <a:ext cx="11523215" cy="2677656"/>
          </a:xfrm>
          <a:prstGeom prst="rect">
            <a:avLst/>
          </a:prstGeom>
          <a:noFill/>
        </p:spPr>
        <p:txBody>
          <a:bodyPr wrap="square">
            <a:spAutoFit/>
          </a:bodyPr>
          <a:lstStyle/>
          <a:p>
            <a:pPr algn="l"/>
            <a:r>
              <a:rPr lang="en-US" sz="2800" b="1" dirty="0">
                <a:solidFill>
                  <a:srgbClr val="161616"/>
                </a:solidFill>
              </a:rPr>
              <a:t>Scalar</a:t>
            </a:r>
          </a:p>
          <a:p>
            <a:pPr marL="285750" indent="-285750" algn="l">
              <a:buFont typeface="Arial" panose="020B0604020202020204" pitchFamily="34" charset="0"/>
              <a:buChar char="•"/>
            </a:pPr>
            <a:r>
              <a:rPr lang="en-US" sz="2800" b="0" i="0" dirty="0">
                <a:solidFill>
                  <a:srgbClr val="161616"/>
                </a:solidFill>
                <a:effectLst/>
              </a:rPr>
              <a:t>In DAX, a scalar is a </a:t>
            </a:r>
            <a:r>
              <a:rPr lang="en-US" sz="2800" b="1" i="0" dirty="0">
                <a:solidFill>
                  <a:srgbClr val="161616"/>
                </a:solidFill>
                <a:effectLst/>
              </a:rPr>
              <a:t>single value</a:t>
            </a:r>
            <a:r>
              <a:rPr lang="en-US" sz="2800" b="0" i="0" dirty="0">
                <a:solidFill>
                  <a:srgbClr val="161616"/>
                </a:solidFill>
                <a:effectLst/>
              </a:rPr>
              <a:t>. A scalar can be of any data type: Decimal, Integer, </a:t>
            </a:r>
            <a:r>
              <a:rPr lang="en-US" sz="2800" b="0" i="0" dirty="0" err="1">
                <a:solidFill>
                  <a:srgbClr val="161616"/>
                </a:solidFill>
                <a:effectLst/>
              </a:rPr>
              <a:t>DateTime</a:t>
            </a:r>
            <a:r>
              <a:rPr lang="en-US" sz="2800" b="0" i="0" dirty="0">
                <a:solidFill>
                  <a:srgbClr val="161616"/>
                </a:solidFill>
                <a:effectLst/>
              </a:rPr>
              <a:t>, String, Currency, Boolean. </a:t>
            </a:r>
          </a:p>
          <a:p>
            <a:pPr marL="285750" indent="-285750" algn="l">
              <a:buFont typeface="Arial" panose="020B0604020202020204" pitchFamily="34" charset="0"/>
              <a:buChar char="•"/>
            </a:pPr>
            <a:r>
              <a:rPr lang="en-US" sz="2800" b="0" i="0" dirty="0">
                <a:solidFill>
                  <a:srgbClr val="161616"/>
                </a:solidFill>
                <a:effectLst/>
              </a:rPr>
              <a:t>Can be the result of an expression calculated from multiple values. </a:t>
            </a:r>
          </a:p>
          <a:p>
            <a:pPr marL="285750" indent="-285750" algn="l">
              <a:buFont typeface="Arial" panose="020B0604020202020204" pitchFamily="34" charset="0"/>
              <a:buChar char="•"/>
            </a:pPr>
            <a:r>
              <a:rPr lang="en-US" sz="2800" b="0" i="0" dirty="0">
                <a:solidFill>
                  <a:srgbClr val="161616"/>
                </a:solidFill>
                <a:effectLst/>
              </a:rPr>
              <a:t>For Ex: an aggregation function such as MAX() returns a single maximum value from a set of values from which to evaluate.</a:t>
            </a:r>
          </a:p>
        </p:txBody>
      </p:sp>
    </p:spTree>
    <p:extLst>
      <p:ext uri="{BB962C8B-B14F-4D97-AF65-F5344CB8AC3E}">
        <p14:creationId xmlns="" xmlns:p14="http://schemas.microsoft.com/office/powerpoint/2010/main" val="9686470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Types of DAX Expressions</a:t>
            </a:r>
            <a:endParaRPr lang="en-IN" dirty="0"/>
          </a:p>
        </p:txBody>
      </p:sp>
      <p:sp>
        <p:nvSpPr>
          <p:cNvPr id="6" name="Subtitle 5">
            <a:extLst>
              <a:ext uri="{FF2B5EF4-FFF2-40B4-BE49-F238E27FC236}">
                <a16:creationId xmlns="" xmlns:a16="http://schemas.microsoft.com/office/drawing/2014/main" id="{CF49F4BE-59F9-3A69-BCBA-4E4D9DBB0B9D}"/>
              </a:ext>
            </a:extLst>
          </p:cNvPr>
          <p:cNvSpPr>
            <a:spLocks noGrp="1"/>
          </p:cNvSpPr>
          <p:nvPr>
            <p:ph type="subTitle" idx="1"/>
          </p:nvPr>
        </p:nvSpPr>
        <p:spPr>
          <a:xfrm>
            <a:off x="287854" y="1330620"/>
            <a:ext cx="11774750" cy="5012223"/>
          </a:xfrm>
        </p:spPr>
        <p:txBody>
          <a:bodyPr>
            <a:noAutofit/>
          </a:bodyPr>
          <a:lstStyle/>
          <a:p>
            <a:pPr marL="457200" indent="-457200" algn="l">
              <a:buFont typeface="Arial" panose="020B0604020202020204" pitchFamily="34" charset="0"/>
              <a:buChar char="•"/>
            </a:pPr>
            <a:r>
              <a:rPr lang="en-US" sz="2800" b="0" i="0" u="none" strike="noStrike" dirty="0">
                <a:solidFill>
                  <a:srgbClr val="161616"/>
                </a:solidFill>
                <a:effectLst/>
                <a:latin typeface="+mj-lt"/>
                <a:hlinkClick r:id="rId2"/>
              </a:rPr>
              <a:t>Aggregation functions</a:t>
            </a:r>
            <a:r>
              <a:rPr lang="en-US" sz="2800" b="0" i="0" dirty="0">
                <a:solidFill>
                  <a:srgbClr val="161616"/>
                </a:solidFill>
                <a:effectLst/>
                <a:latin typeface="+mj-lt"/>
              </a:rPr>
              <a:t> - These functions calculate a (scalar) value such as </a:t>
            </a:r>
            <a:r>
              <a:rPr lang="en-US" sz="2800" b="1" i="0" dirty="0">
                <a:solidFill>
                  <a:srgbClr val="161616"/>
                </a:solidFill>
                <a:effectLst/>
                <a:latin typeface="+mj-lt"/>
              </a:rPr>
              <a:t>count, sum, average, minimum, or maximum</a:t>
            </a:r>
            <a:r>
              <a:rPr lang="en-US" sz="2800" b="0" i="0" dirty="0">
                <a:solidFill>
                  <a:srgbClr val="161616"/>
                </a:solidFill>
                <a:effectLst/>
                <a:latin typeface="+mj-lt"/>
              </a:rPr>
              <a:t> for all rows in a column or table as defined by the expression.</a:t>
            </a:r>
          </a:p>
          <a:p>
            <a:pPr marL="457200" indent="-457200" algn="l">
              <a:buFont typeface="Arial" panose="020B0604020202020204" pitchFamily="34" charset="0"/>
              <a:buChar char="•"/>
            </a:pPr>
            <a:r>
              <a:rPr lang="en-US" sz="2800" b="0" i="0" u="none" strike="noStrike" dirty="0">
                <a:solidFill>
                  <a:srgbClr val="161616"/>
                </a:solidFill>
                <a:effectLst/>
                <a:latin typeface="+mj-lt"/>
                <a:hlinkClick r:id="rId3"/>
              </a:rPr>
              <a:t>Date and time functions</a:t>
            </a:r>
            <a:r>
              <a:rPr lang="en-US" sz="2800" b="0" i="0" dirty="0">
                <a:solidFill>
                  <a:srgbClr val="161616"/>
                </a:solidFill>
                <a:effectLst/>
                <a:latin typeface="+mj-lt"/>
              </a:rPr>
              <a:t> - These functions in DAX are similar to date and time functions in Microsoft Excel. </a:t>
            </a:r>
          </a:p>
          <a:p>
            <a:pPr marL="457200" indent="-457200" algn="l">
              <a:buFont typeface="Arial" panose="020B0604020202020204" pitchFamily="34" charset="0"/>
              <a:buChar char="•"/>
            </a:pPr>
            <a:r>
              <a:rPr lang="en-US" sz="2800" b="0" i="0" u="none" strike="noStrike" dirty="0">
                <a:solidFill>
                  <a:srgbClr val="161616"/>
                </a:solidFill>
                <a:effectLst/>
                <a:latin typeface="+mj-lt"/>
                <a:hlinkClick r:id="rId4"/>
              </a:rPr>
              <a:t>Filter functions</a:t>
            </a:r>
            <a:r>
              <a:rPr lang="en-US" sz="2800" b="0" i="0" dirty="0">
                <a:solidFill>
                  <a:srgbClr val="161616"/>
                </a:solidFill>
                <a:effectLst/>
                <a:latin typeface="+mj-lt"/>
              </a:rPr>
              <a:t> - These functions help you return specific data types, look up values in related tables, and filter by related values. Filtering functions let you manipulate data context to create dynamic calculations.</a:t>
            </a:r>
          </a:p>
          <a:p>
            <a:pPr marL="457200" indent="-457200" algn="l">
              <a:buFont typeface="Arial" panose="020B0604020202020204" pitchFamily="34" charset="0"/>
              <a:buChar char="•"/>
            </a:pPr>
            <a:r>
              <a:rPr lang="en-US" sz="2800" b="0" i="0" u="none" strike="noStrike" dirty="0">
                <a:solidFill>
                  <a:srgbClr val="161616"/>
                </a:solidFill>
                <a:effectLst/>
                <a:latin typeface="+mj-lt"/>
                <a:hlinkClick r:id="rId5"/>
              </a:rPr>
              <a:t>Parent and Child functions</a:t>
            </a:r>
            <a:r>
              <a:rPr lang="en-US" sz="2800" b="0" i="0" dirty="0">
                <a:solidFill>
                  <a:srgbClr val="161616"/>
                </a:solidFill>
                <a:effectLst/>
                <a:latin typeface="+mj-lt"/>
              </a:rPr>
              <a:t> - These functions help users manage data that is presented as a parent/child hierarchy in their data models.</a:t>
            </a:r>
            <a:endParaRPr lang="en-IN" sz="2800" dirty="0">
              <a:latin typeface="+mj-lt"/>
            </a:endParaRPr>
          </a:p>
        </p:txBody>
      </p:sp>
    </p:spTree>
    <p:extLst>
      <p:ext uri="{BB962C8B-B14F-4D97-AF65-F5344CB8AC3E}">
        <p14:creationId xmlns="" xmlns:p14="http://schemas.microsoft.com/office/powerpoint/2010/main" val="14271155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Types of DAX Expressions</a:t>
            </a:r>
            <a:endParaRPr lang="en-IN" dirty="0"/>
          </a:p>
        </p:txBody>
      </p:sp>
      <p:sp>
        <p:nvSpPr>
          <p:cNvPr id="6" name="Subtitle 5">
            <a:extLst>
              <a:ext uri="{FF2B5EF4-FFF2-40B4-BE49-F238E27FC236}">
                <a16:creationId xmlns="" xmlns:a16="http://schemas.microsoft.com/office/drawing/2014/main" id="{CF49F4BE-59F9-3A69-BCBA-4E4D9DBB0B9D}"/>
              </a:ext>
            </a:extLst>
          </p:cNvPr>
          <p:cNvSpPr>
            <a:spLocks noGrp="1"/>
          </p:cNvSpPr>
          <p:nvPr>
            <p:ph type="subTitle" idx="1"/>
          </p:nvPr>
        </p:nvSpPr>
        <p:spPr>
          <a:xfrm>
            <a:off x="482353" y="1226459"/>
            <a:ext cx="11404847" cy="4290134"/>
          </a:xfrm>
        </p:spPr>
        <p:txBody>
          <a:bodyPr>
            <a:noAutofit/>
          </a:bodyPr>
          <a:lstStyle/>
          <a:p>
            <a:pPr marL="457200" indent="-457200" algn="l">
              <a:buFont typeface="Arial" panose="020B0604020202020204" pitchFamily="34" charset="0"/>
              <a:buChar char="•"/>
            </a:pPr>
            <a:r>
              <a:rPr lang="en-US" sz="2800" b="0" i="0" u="none" strike="noStrike" dirty="0">
                <a:solidFill>
                  <a:srgbClr val="161616"/>
                </a:solidFill>
                <a:effectLst/>
                <a:latin typeface="+mj-lt"/>
                <a:hlinkClick r:id="rId2"/>
              </a:rPr>
              <a:t/>
            </a:r>
            <a:br>
              <a:rPr lang="en-US" sz="2800" b="0" i="0" u="none" strike="noStrike" dirty="0">
                <a:solidFill>
                  <a:srgbClr val="161616"/>
                </a:solidFill>
                <a:effectLst/>
                <a:latin typeface="+mj-lt"/>
                <a:hlinkClick r:id="rId2"/>
              </a:rPr>
            </a:br>
            <a:r>
              <a:rPr lang="en-US" sz="2800" b="0" i="0" u="none" strike="noStrike" dirty="0">
                <a:solidFill>
                  <a:srgbClr val="161616"/>
                </a:solidFill>
                <a:effectLst/>
                <a:latin typeface="+mj-lt"/>
                <a:hlinkClick r:id="rId3"/>
              </a:rPr>
              <a:t>Information functions</a:t>
            </a:r>
            <a:r>
              <a:rPr lang="en-US" sz="2800" b="0" i="0" dirty="0">
                <a:solidFill>
                  <a:srgbClr val="161616"/>
                </a:solidFill>
                <a:effectLst/>
                <a:latin typeface="+mj-lt"/>
              </a:rPr>
              <a:t> - These functions look at a table or column provided as an argument to another function and returns whether the value matches the expected type. For example, the ISERROR function returns TRUE if the value you reference contains an error.</a:t>
            </a:r>
          </a:p>
          <a:p>
            <a:pPr marL="457200" indent="-457200" algn="l">
              <a:buFont typeface="Arial" panose="020B0604020202020204" pitchFamily="34" charset="0"/>
              <a:buChar char="•"/>
            </a:pPr>
            <a:r>
              <a:rPr lang="en-US" sz="2800" b="0" i="0" u="none" strike="noStrike" dirty="0">
                <a:solidFill>
                  <a:srgbClr val="161616"/>
                </a:solidFill>
                <a:effectLst/>
                <a:latin typeface="+mj-lt"/>
                <a:hlinkClick r:id="rId4"/>
              </a:rPr>
              <a:t>Logical functions</a:t>
            </a:r>
            <a:r>
              <a:rPr lang="en-US" sz="2800" b="0" i="0" dirty="0">
                <a:solidFill>
                  <a:srgbClr val="161616"/>
                </a:solidFill>
                <a:effectLst/>
                <a:latin typeface="+mj-lt"/>
              </a:rPr>
              <a:t> - These functions return information about values in an expression. For example, the TRUE function lets you know whether an expression that you are evaluating returns a TRUE value.</a:t>
            </a:r>
          </a:p>
          <a:p>
            <a:pPr marL="457200" indent="-457200" algn="l">
              <a:buFont typeface="Arial" panose="020B0604020202020204" pitchFamily="34" charset="0"/>
              <a:buChar char="•"/>
            </a:pPr>
            <a:r>
              <a:rPr lang="en-US" sz="2800" b="0" i="0" u="none" strike="noStrike" dirty="0">
                <a:solidFill>
                  <a:srgbClr val="161616"/>
                </a:solidFill>
                <a:effectLst/>
                <a:latin typeface="+mj-lt"/>
                <a:hlinkClick r:id="rId5"/>
              </a:rPr>
              <a:t>Math and Trig functions</a:t>
            </a:r>
            <a:r>
              <a:rPr lang="en-US" sz="2800" b="0" i="0" dirty="0">
                <a:solidFill>
                  <a:srgbClr val="161616"/>
                </a:solidFill>
                <a:effectLst/>
                <a:latin typeface="+mj-lt"/>
              </a:rPr>
              <a:t> - Mathematical functions in DAX are similar to Excel's mathematical and trigonometric functions. However, there are some differences in the numeric data types used by DAX functions.</a:t>
            </a:r>
          </a:p>
        </p:txBody>
      </p:sp>
    </p:spTree>
    <p:extLst>
      <p:ext uri="{BB962C8B-B14F-4D97-AF65-F5344CB8AC3E}">
        <p14:creationId xmlns="" xmlns:p14="http://schemas.microsoft.com/office/powerpoint/2010/main" val="453660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Types of DAX Expressions</a:t>
            </a:r>
            <a:endParaRPr lang="en-IN" dirty="0"/>
          </a:p>
        </p:txBody>
      </p:sp>
      <p:sp>
        <p:nvSpPr>
          <p:cNvPr id="6" name="Subtitle 5">
            <a:extLst>
              <a:ext uri="{FF2B5EF4-FFF2-40B4-BE49-F238E27FC236}">
                <a16:creationId xmlns="" xmlns:a16="http://schemas.microsoft.com/office/drawing/2014/main" id="{CF49F4BE-59F9-3A69-BCBA-4E4D9DBB0B9D}"/>
              </a:ext>
            </a:extLst>
          </p:cNvPr>
          <p:cNvSpPr>
            <a:spLocks noGrp="1"/>
          </p:cNvSpPr>
          <p:nvPr>
            <p:ph type="subTitle" idx="1"/>
          </p:nvPr>
        </p:nvSpPr>
        <p:spPr>
          <a:xfrm>
            <a:off x="568170" y="2061461"/>
            <a:ext cx="11469949" cy="4085948"/>
          </a:xfrm>
        </p:spPr>
        <p:txBody>
          <a:bodyPr>
            <a:noAutofit/>
          </a:bodyPr>
          <a:lstStyle/>
          <a:p>
            <a:pPr marL="457200" indent="-457200" algn="l">
              <a:buFont typeface="Arial" panose="020B0604020202020204" pitchFamily="34" charset="0"/>
              <a:buChar char="•"/>
            </a:pPr>
            <a:r>
              <a:rPr lang="en-US" sz="2800" b="0" i="0" u="none" strike="noStrike" dirty="0">
                <a:solidFill>
                  <a:srgbClr val="161616"/>
                </a:solidFill>
                <a:effectLst/>
                <a:latin typeface="+mj-lt"/>
                <a:hlinkClick r:id="rId2"/>
              </a:rPr>
              <a:t>Relationship functions</a:t>
            </a:r>
            <a:r>
              <a:rPr lang="en-US" sz="2800" b="0" i="0" dirty="0">
                <a:solidFill>
                  <a:srgbClr val="161616"/>
                </a:solidFill>
                <a:effectLst/>
                <a:latin typeface="+mj-lt"/>
              </a:rPr>
              <a:t> - These functions are for managing and utilizing relationships between tables. For example, you can specify a particular relationship to be used in a calculation.</a:t>
            </a:r>
          </a:p>
        </p:txBody>
      </p:sp>
    </p:spTree>
    <p:extLst>
      <p:ext uri="{BB962C8B-B14F-4D97-AF65-F5344CB8AC3E}">
        <p14:creationId xmlns="" xmlns:p14="http://schemas.microsoft.com/office/powerpoint/2010/main" val="3251291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Types of DAX Expressions</a:t>
            </a:r>
            <a:endParaRPr lang="en-IN" dirty="0"/>
          </a:p>
        </p:txBody>
      </p:sp>
      <p:sp>
        <p:nvSpPr>
          <p:cNvPr id="6" name="Subtitle 5">
            <a:extLst>
              <a:ext uri="{FF2B5EF4-FFF2-40B4-BE49-F238E27FC236}">
                <a16:creationId xmlns="" xmlns:a16="http://schemas.microsoft.com/office/drawing/2014/main" id="{CF49F4BE-59F9-3A69-BCBA-4E4D9DBB0B9D}"/>
              </a:ext>
            </a:extLst>
          </p:cNvPr>
          <p:cNvSpPr>
            <a:spLocks noGrp="1"/>
          </p:cNvSpPr>
          <p:nvPr>
            <p:ph type="subTitle" idx="1"/>
          </p:nvPr>
        </p:nvSpPr>
        <p:spPr>
          <a:xfrm>
            <a:off x="532911" y="1672184"/>
            <a:ext cx="11469949" cy="4085948"/>
          </a:xfrm>
        </p:spPr>
        <p:txBody>
          <a:bodyPr>
            <a:noAutofit/>
          </a:bodyPr>
          <a:lstStyle/>
          <a:p>
            <a:pPr marL="457200" indent="-457200" algn="l">
              <a:buFont typeface="Arial" panose="020B0604020202020204" pitchFamily="34" charset="0"/>
              <a:buChar char="•"/>
            </a:pPr>
            <a:r>
              <a:rPr lang="en-US" sz="2800" b="0" i="0" u="none" strike="noStrike" dirty="0">
                <a:solidFill>
                  <a:srgbClr val="161616"/>
                </a:solidFill>
                <a:effectLst/>
                <a:latin typeface="+mj-lt"/>
                <a:hlinkClick r:id="rId2"/>
              </a:rPr>
              <a:t>Table manipulation functions</a:t>
            </a:r>
            <a:r>
              <a:rPr lang="en-US" sz="2800" b="0" i="0" dirty="0">
                <a:solidFill>
                  <a:srgbClr val="161616"/>
                </a:solidFill>
                <a:effectLst/>
                <a:latin typeface="+mj-lt"/>
              </a:rPr>
              <a:t> - These functions return a table or manipulate existing tables.</a:t>
            </a:r>
          </a:p>
          <a:p>
            <a:pPr marL="457200" indent="-457200" algn="l">
              <a:buFont typeface="Arial" panose="020B0604020202020204" pitchFamily="34" charset="0"/>
              <a:buChar char="•"/>
            </a:pPr>
            <a:r>
              <a:rPr lang="en-US" sz="2800" b="0" i="0" u="none" strike="noStrike" dirty="0">
                <a:solidFill>
                  <a:srgbClr val="161616"/>
                </a:solidFill>
                <a:effectLst/>
                <a:latin typeface="+mj-lt"/>
                <a:hlinkClick r:id="rId3"/>
              </a:rPr>
              <a:t>Text functions</a:t>
            </a:r>
            <a:r>
              <a:rPr lang="en-US" sz="2800" b="0" i="0" dirty="0">
                <a:solidFill>
                  <a:srgbClr val="161616"/>
                </a:solidFill>
                <a:effectLst/>
                <a:latin typeface="+mj-lt"/>
              </a:rPr>
              <a:t> - With these functions, you can return part of a string, search for text within a string, or concatenate string values. Additional functions are for controlling the formats for dates, times, and numbers.</a:t>
            </a:r>
          </a:p>
          <a:p>
            <a:pPr marL="457200" indent="-457200" algn="l">
              <a:buFont typeface="Arial" panose="020B0604020202020204" pitchFamily="34" charset="0"/>
              <a:buChar char="•"/>
            </a:pPr>
            <a:r>
              <a:rPr lang="en-US" sz="2800" b="0" i="0" u="none" strike="noStrike" dirty="0">
                <a:solidFill>
                  <a:srgbClr val="161616"/>
                </a:solidFill>
                <a:effectLst/>
                <a:latin typeface="+mj-lt"/>
                <a:hlinkClick r:id="rId4"/>
              </a:rPr>
              <a:t>Time intelligence functions</a:t>
            </a:r>
            <a:r>
              <a:rPr lang="en-US" sz="2800" b="0" i="0" dirty="0">
                <a:solidFill>
                  <a:srgbClr val="161616"/>
                </a:solidFill>
                <a:effectLst/>
                <a:latin typeface="+mj-lt"/>
              </a:rPr>
              <a:t> - These functions help you create calculations that use built-in knowledge about calendars and dates. By using time and date ranges in combination with aggregations or calculations, you can build meaningful comparisons across comparable time periods for sales, inventory, and so on.</a:t>
            </a:r>
          </a:p>
          <a:p>
            <a:pPr marL="457200" indent="-457200">
              <a:buFont typeface="Arial" panose="020B0604020202020204" pitchFamily="34" charset="0"/>
              <a:buChar char="•"/>
            </a:pPr>
            <a:endParaRPr lang="en-IN" sz="2800" dirty="0">
              <a:latin typeface="+mj-lt"/>
            </a:endParaRPr>
          </a:p>
        </p:txBody>
      </p:sp>
    </p:spTree>
    <p:extLst>
      <p:ext uri="{BB962C8B-B14F-4D97-AF65-F5344CB8AC3E}">
        <p14:creationId xmlns="" xmlns:p14="http://schemas.microsoft.com/office/powerpoint/2010/main" val="2640153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Types of DAX Expressions</a:t>
            </a:r>
            <a:endParaRPr lang="en-IN" dirty="0"/>
          </a:p>
        </p:txBody>
      </p:sp>
      <p:sp>
        <p:nvSpPr>
          <p:cNvPr id="6" name="Subtitle 5">
            <a:extLst>
              <a:ext uri="{FF2B5EF4-FFF2-40B4-BE49-F238E27FC236}">
                <a16:creationId xmlns="" xmlns:a16="http://schemas.microsoft.com/office/drawing/2014/main" id="{CF49F4BE-59F9-3A69-BCBA-4E4D9DBB0B9D}"/>
              </a:ext>
            </a:extLst>
          </p:cNvPr>
          <p:cNvSpPr>
            <a:spLocks noGrp="1"/>
          </p:cNvSpPr>
          <p:nvPr>
            <p:ph type="subTitle" idx="1"/>
          </p:nvPr>
        </p:nvSpPr>
        <p:spPr>
          <a:xfrm>
            <a:off x="550415" y="1071084"/>
            <a:ext cx="11469949" cy="4085948"/>
          </a:xfrm>
        </p:spPr>
        <p:txBody>
          <a:bodyPr>
            <a:noAutofit/>
          </a:bodyPr>
          <a:lstStyle/>
          <a:p>
            <a:r>
              <a:rPr lang="en-US" sz="3600" dirty="0">
                <a:latin typeface="+mj-lt"/>
              </a:rPr>
              <a:t>Arithmetic operators</a:t>
            </a:r>
          </a:p>
          <a:p>
            <a:pPr algn="just"/>
            <a:r>
              <a:rPr lang="en-US" sz="2800" dirty="0">
                <a:latin typeface="+mj-lt"/>
              </a:rPr>
              <a:t>To perform basic mathematical operations such as addition, subtraction, or multiplication; combine numbers; and produce numeric results, use the following arithmetic operators.</a:t>
            </a:r>
          </a:p>
          <a:p>
            <a:pPr algn="just"/>
            <a:endParaRPr lang="en-IN" sz="2800" dirty="0">
              <a:latin typeface="+mj-lt"/>
            </a:endParaRPr>
          </a:p>
        </p:txBody>
      </p:sp>
      <p:graphicFrame>
        <p:nvGraphicFramePr>
          <p:cNvPr id="3" name="Table 3">
            <a:extLst>
              <a:ext uri="{FF2B5EF4-FFF2-40B4-BE49-F238E27FC236}">
                <a16:creationId xmlns="" xmlns:a16="http://schemas.microsoft.com/office/drawing/2014/main" id="{5C807A0E-AE2C-964A-8D03-4B87B29E9166}"/>
              </a:ext>
            </a:extLst>
          </p:cNvPr>
          <p:cNvGraphicFramePr>
            <a:graphicFrameLocks noGrp="1"/>
          </p:cNvGraphicFramePr>
          <p:nvPr>
            <p:extLst>
              <p:ext uri="{D42A27DB-BD31-4B8C-83A1-F6EECF244321}">
                <p14:modId xmlns="" xmlns:p14="http://schemas.microsoft.com/office/powerpoint/2010/main" val="673048599"/>
              </p:ext>
            </p:extLst>
          </p:nvPr>
        </p:nvGraphicFramePr>
        <p:xfrm>
          <a:off x="1907713" y="3018408"/>
          <a:ext cx="8150688" cy="3213720"/>
        </p:xfrm>
        <a:graphic>
          <a:graphicData uri="http://schemas.openxmlformats.org/drawingml/2006/table">
            <a:tbl>
              <a:tblPr firstRow="1" bandRow="1">
                <a:tableStyleId>{5C22544A-7EE6-4342-B048-85BDC9FD1C3A}</a:tableStyleId>
              </a:tblPr>
              <a:tblGrid>
                <a:gridCol w="2716896">
                  <a:extLst>
                    <a:ext uri="{9D8B030D-6E8A-4147-A177-3AD203B41FA5}">
                      <a16:colId xmlns="" xmlns:a16="http://schemas.microsoft.com/office/drawing/2014/main" val="1475777759"/>
                    </a:ext>
                  </a:extLst>
                </a:gridCol>
                <a:gridCol w="2716896">
                  <a:extLst>
                    <a:ext uri="{9D8B030D-6E8A-4147-A177-3AD203B41FA5}">
                      <a16:colId xmlns="" xmlns:a16="http://schemas.microsoft.com/office/drawing/2014/main" val="1871505984"/>
                    </a:ext>
                  </a:extLst>
                </a:gridCol>
                <a:gridCol w="2716896">
                  <a:extLst>
                    <a:ext uri="{9D8B030D-6E8A-4147-A177-3AD203B41FA5}">
                      <a16:colId xmlns="" xmlns:a16="http://schemas.microsoft.com/office/drawing/2014/main" val="666365027"/>
                    </a:ext>
                  </a:extLst>
                </a:gridCol>
              </a:tblGrid>
              <a:tr h="401715">
                <a:tc>
                  <a:txBody>
                    <a:bodyPr/>
                    <a:lstStyle/>
                    <a:p>
                      <a:pPr algn="l" fontAlgn="t"/>
                      <a:r>
                        <a:rPr lang="en-IN" dirty="0">
                          <a:effectLst/>
                        </a:rPr>
                        <a:t>Arithmetic operator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99244561"/>
                  </a:ext>
                </a:extLst>
              </a:tr>
              <a:tr h="401715">
                <a:tc>
                  <a:txBody>
                    <a:bodyPr/>
                    <a:lstStyle/>
                    <a:p>
                      <a:pPr algn="l" fontAlgn="t"/>
                      <a:r>
                        <a:rPr lang="en-IN">
                          <a:effectLst/>
                        </a:rPr>
                        <a:t>+ (plus 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Addition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83637508"/>
                  </a:ext>
                </a:extLst>
              </a:tr>
              <a:tr h="401715">
                <a:tc>
                  <a:txBody>
                    <a:bodyPr/>
                    <a:lstStyle/>
                    <a:p>
                      <a:pPr algn="l" fontAlgn="t"/>
                      <a:r>
                        <a:rPr lang="en-IN">
                          <a:effectLst/>
                        </a:rPr>
                        <a:t>– (minus 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Subtraction or 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9312121"/>
                  </a:ext>
                </a:extLst>
              </a:tr>
              <a:tr h="401715">
                <a:tc>
                  <a:txBody>
                    <a:bodyPr/>
                    <a:lstStyle/>
                    <a:p>
                      <a:pPr algn="l" fontAlgn="t"/>
                      <a:r>
                        <a:rPr lang="en-IN">
                          <a:effectLst/>
                        </a:rPr>
                        <a:t>* (asterisk)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Multiplication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84239228"/>
                  </a:ext>
                </a:extLst>
              </a:tr>
              <a:tr h="401715">
                <a:tc>
                  <a:txBody>
                    <a:bodyPr/>
                    <a:lstStyle/>
                    <a:p>
                      <a:pPr algn="l" fontAlgn="t"/>
                      <a:r>
                        <a:rPr lang="en-IN">
                          <a:effectLst/>
                        </a:rPr>
                        <a:t>/ (forward slash)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89457816"/>
                  </a:ext>
                </a:extLst>
              </a:tr>
              <a:tr h="401715">
                <a:tc>
                  <a:txBody>
                    <a:bodyPr/>
                    <a:lstStyle/>
                    <a:p>
                      <a:pPr algn="l" fontAlgn="t"/>
                      <a:r>
                        <a:rPr lang="en-IN">
                          <a:effectLst/>
                        </a:rPr>
                        <a:t>^ (caret)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Exponentiation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16^4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282034700"/>
                  </a:ext>
                </a:extLst>
              </a:tr>
              <a:tr h="401715">
                <a:tc>
                  <a:txBody>
                    <a:bodyPr/>
                    <a:lstStyle/>
                    <a:p>
                      <a:pPr algn="l" fontAlgn="t"/>
                      <a:r>
                        <a:rPr lang="en-IN">
                          <a:effectLst/>
                        </a:rPr>
                        <a:t>Arithmetic operator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3943813"/>
                  </a:ext>
                </a:extLst>
              </a:tr>
              <a:tr h="401715">
                <a:tc>
                  <a:txBody>
                    <a:bodyPr/>
                    <a:lstStyle/>
                    <a:p>
                      <a:pPr algn="l" fontAlgn="t"/>
                      <a:r>
                        <a:rPr lang="en-IN">
                          <a:effectLst/>
                        </a:rPr>
                        <a:t>+ (plus 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Addition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dirty="0">
                          <a:effectLst/>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41029232"/>
                  </a:ext>
                </a:extLst>
              </a:tr>
            </a:tbl>
          </a:graphicData>
        </a:graphic>
      </p:graphicFrame>
    </p:spTree>
    <p:extLst>
      <p:ext uri="{BB962C8B-B14F-4D97-AF65-F5344CB8AC3E}">
        <p14:creationId xmlns="" xmlns:p14="http://schemas.microsoft.com/office/powerpoint/2010/main" val="596000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Types of DAX Expressions</a:t>
            </a:r>
            <a:endParaRPr lang="en-IN" dirty="0"/>
          </a:p>
        </p:txBody>
      </p:sp>
      <p:sp>
        <p:nvSpPr>
          <p:cNvPr id="6" name="Subtitle 5">
            <a:extLst>
              <a:ext uri="{FF2B5EF4-FFF2-40B4-BE49-F238E27FC236}">
                <a16:creationId xmlns="" xmlns:a16="http://schemas.microsoft.com/office/drawing/2014/main" id="{CF49F4BE-59F9-3A69-BCBA-4E4D9DBB0B9D}"/>
              </a:ext>
            </a:extLst>
          </p:cNvPr>
          <p:cNvSpPr>
            <a:spLocks noGrp="1"/>
          </p:cNvSpPr>
          <p:nvPr>
            <p:ph type="subTitle" idx="1"/>
          </p:nvPr>
        </p:nvSpPr>
        <p:spPr>
          <a:xfrm>
            <a:off x="550415" y="1071084"/>
            <a:ext cx="11469949" cy="4085948"/>
          </a:xfrm>
        </p:spPr>
        <p:txBody>
          <a:bodyPr>
            <a:noAutofit/>
          </a:bodyPr>
          <a:lstStyle/>
          <a:p>
            <a:r>
              <a:rPr lang="en-US" sz="3600" dirty="0">
                <a:latin typeface="+mj-lt"/>
              </a:rPr>
              <a:t>Comparison operators</a:t>
            </a:r>
          </a:p>
          <a:p>
            <a:r>
              <a:rPr lang="en-US" sz="2800" dirty="0">
                <a:latin typeface="+mj-lt"/>
              </a:rPr>
              <a:t>You can compare two values with the following operators. When two values are compared by using these operators, the result is a logical value, either TRUE or FALSE.</a:t>
            </a:r>
            <a:endParaRPr lang="en-IN" sz="2800" dirty="0">
              <a:latin typeface="+mj-lt"/>
            </a:endParaRPr>
          </a:p>
        </p:txBody>
      </p:sp>
      <p:graphicFrame>
        <p:nvGraphicFramePr>
          <p:cNvPr id="3" name="Table 3">
            <a:extLst>
              <a:ext uri="{FF2B5EF4-FFF2-40B4-BE49-F238E27FC236}">
                <a16:creationId xmlns="" xmlns:a16="http://schemas.microsoft.com/office/drawing/2014/main" id="{5C807A0E-AE2C-964A-8D03-4B87B29E9166}"/>
              </a:ext>
            </a:extLst>
          </p:cNvPr>
          <p:cNvGraphicFramePr>
            <a:graphicFrameLocks noGrp="1"/>
          </p:cNvGraphicFramePr>
          <p:nvPr>
            <p:extLst>
              <p:ext uri="{D42A27DB-BD31-4B8C-83A1-F6EECF244321}">
                <p14:modId xmlns="" xmlns:p14="http://schemas.microsoft.com/office/powerpoint/2010/main" val="3489865021"/>
              </p:ext>
            </p:extLst>
          </p:nvPr>
        </p:nvGraphicFramePr>
        <p:xfrm>
          <a:off x="1907713" y="3018408"/>
          <a:ext cx="8150688" cy="3213720"/>
        </p:xfrm>
        <a:graphic>
          <a:graphicData uri="http://schemas.openxmlformats.org/drawingml/2006/table">
            <a:tbl>
              <a:tblPr firstRow="1" bandRow="1">
                <a:tableStyleId>{5C22544A-7EE6-4342-B048-85BDC9FD1C3A}</a:tableStyleId>
              </a:tblPr>
              <a:tblGrid>
                <a:gridCol w="2716896">
                  <a:extLst>
                    <a:ext uri="{9D8B030D-6E8A-4147-A177-3AD203B41FA5}">
                      <a16:colId xmlns="" xmlns:a16="http://schemas.microsoft.com/office/drawing/2014/main" val="1475777759"/>
                    </a:ext>
                  </a:extLst>
                </a:gridCol>
                <a:gridCol w="2716896">
                  <a:extLst>
                    <a:ext uri="{9D8B030D-6E8A-4147-A177-3AD203B41FA5}">
                      <a16:colId xmlns="" xmlns:a16="http://schemas.microsoft.com/office/drawing/2014/main" val="1871505984"/>
                    </a:ext>
                  </a:extLst>
                </a:gridCol>
                <a:gridCol w="2716896">
                  <a:extLst>
                    <a:ext uri="{9D8B030D-6E8A-4147-A177-3AD203B41FA5}">
                      <a16:colId xmlns="" xmlns:a16="http://schemas.microsoft.com/office/drawing/2014/main" val="666365027"/>
                    </a:ext>
                  </a:extLst>
                </a:gridCol>
              </a:tblGrid>
              <a:tr h="401715">
                <a:tc>
                  <a:txBody>
                    <a:bodyPr/>
                    <a:lstStyle/>
                    <a:p>
                      <a:pPr algn="l" fontAlgn="t"/>
                      <a:r>
                        <a:rPr lang="en-IN" dirty="0">
                          <a:effectLst/>
                        </a:rPr>
                        <a:t>Comparison operator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99244561"/>
                  </a:ext>
                </a:extLst>
              </a:tr>
              <a:tr h="401715">
                <a:tc>
                  <a:txBody>
                    <a:bodyPr/>
                    <a:lstStyle/>
                    <a:p>
                      <a:pPr algn="l" fontAlgn="t"/>
                      <a:r>
                        <a:rPr lang="en-IN">
                          <a:effectLs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Equal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[Region] = "USA"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83637508"/>
                  </a:ext>
                </a:extLst>
              </a:tr>
              <a:tr h="401715">
                <a:tc>
                  <a:txBody>
                    <a:bodyPr/>
                    <a:lstStyle/>
                    <a:p>
                      <a:pPr algn="l" fontAlgn="t"/>
                      <a:r>
                        <a:rPr lang="en-IN">
                          <a:effectLs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Strict equal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[Region] == "USA"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9312121"/>
                  </a:ext>
                </a:extLst>
              </a:tr>
              <a:tr h="401715">
                <a:tc>
                  <a:txBody>
                    <a:bodyPr/>
                    <a:lstStyle/>
                    <a:p>
                      <a:pPr algn="l" fontAlgn="t"/>
                      <a:r>
                        <a:rPr lang="en-IN">
                          <a:effectLst/>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Greater than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[Sales Date] &gt; "Jan 2009"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84239228"/>
                  </a:ext>
                </a:extLst>
              </a:tr>
              <a:tr h="401715">
                <a:tc>
                  <a:txBody>
                    <a:bodyPr/>
                    <a:lstStyle/>
                    <a:p>
                      <a:pPr algn="l" fontAlgn="t"/>
                      <a:r>
                        <a:rPr lang="en-IN">
                          <a:effectLst/>
                        </a:rPr>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Less than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a:effectLst/>
                        </a:rPr>
                        <a:t>[Sales Date] &lt; "Jan 1 2009"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89457816"/>
                  </a:ext>
                </a:extLst>
              </a:tr>
              <a:tr h="401715">
                <a:tc>
                  <a:txBody>
                    <a:bodyPr/>
                    <a:lstStyle/>
                    <a:p>
                      <a:pPr algn="l" fontAlgn="t"/>
                      <a:r>
                        <a:rPr lang="en-IN">
                          <a:effectLst/>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a:effectLst/>
                        </a:rPr>
                        <a:t>Greater than or equal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[Amount] &gt;= 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282034700"/>
                  </a:ext>
                </a:extLst>
              </a:tr>
              <a:tr h="401715">
                <a:tc>
                  <a:txBody>
                    <a:bodyPr/>
                    <a:lstStyle/>
                    <a:p>
                      <a:pPr algn="l" fontAlgn="t"/>
                      <a:r>
                        <a:rPr lang="en-IN">
                          <a:effectLst/>
                        </a:rPr>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a:effectLst/>
                        </a:rPr>
                        <a:t>Less than or equal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[Amount] &lt;=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3943813"/>
                  </a:ext>
                </a:extLst>
              </a:tr>
              <a:tr h="401715">
                <a:tc>
                  <a:txBody>
                    <a:bodyPr/>
                    <a:lstStyle/>
                    <a:p>
                      <a:pPr algn="l" fontAlgn="t"/>
                      <a:r>
                        <a:rPr lang="en-IN">
                          <a:effectLst/>
                        </a:rPr>
                        <a:t>&lt;&gt;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Not equal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dirty="0">
                          <a:effectLst/>
                        </a:rPr>
                        <a:t>[Region] &lt;&gt; "USA"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41029232"/>
                  </a:ext>
                </a:extLst>
              </a:tr>
            </a:tbl>
          </a:graphicData>
        </a:graphic>
      </p:graphicFrame>
    </p:spTree>
    <p:extLst>
      <p:ext uri="{BB962C8B-B14F-4D97-AF65-F5344CB8AC3E}">
        <p14:creationId xmlns="" xmlns:p14="http://schemas.microsoft.com/office/powerpoint/2010/main" val="4044893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A86D70-28D0-03CC-249F-56754170AE46}"/>
              </a:ext>
            </a:extLst>
          </p:cNvPr>
          <p:cNvSpPr>
            <a:spLocks noGrp="1"/>
          </p:cNvSpPr>
          <p:nvPr>
            <p:ph type="ctrTitle"/>
          </p:nvPr>
        </p:nvSpPr>
        <p:spPr>
          <a:xfrm>
            <a:off x="1524000" y="625876"/>
            <a:ext cx="9144000" cy="477837"/>
          </a:xfrm>
        </p:spPr>
        <p:txBody>
          <a:bodyPr>
            <a:normAutofit fontScale="90000"/>
          </a:bodyPr>
          <a:lstStyle/>
          <a:p>
            <a:r>
              <a:rPr lang="en-US" dirty="0"/>
              <a:t>Types of DAX Expressions</a:t>
            </a:r>
            <a:endParaRPr lang="en-IN" dirty="0"/>
          </a:p>
        </p:txBody>
      </p:sp>
      <p:sp>
        <p:nvSpPr>
          <p:cNvPr id="6" name="Subtitle 5">
            <a:extLst>
              <a:ext uri="{FF2B5EF4-FFF2-40B4-BE49-F238E27FC236}">
                <a16:creationId xmlns="" xmlns:a16="http://schemas.microsoft.com/office/drawing/2014/main" id="{CF49F4BE-59F9-3A69-BCBA-4E4D9DBB0B9D}"/>
              </a:ext>
            </a:extLst>
          </p:cNvPr>
          <p:cNvSpPr>
            <a:spLocks noGrp="1"/>
          </p:cNvSpPr>
          <p:nvPr>
            <p:ph type="subTitle" idx="1"/>
          </p:nvPr>
        </p:nvSpPr>
        <p:spPr>
          <a:xfrm>
            <a:off x="550415" y="1071084"/>
            <a:ext cx="11469949" cy="4085948"/>
          </a:xfrm>
        </p:spPr>
        <p:txBody>
          <a:bodyPr>
            <a:noAutofit/>
          </a:bodyPr>
          <a:lstStyle/>
          <a:p>
            <a:r>
              <a:rPr lang="en-US" sz="3600" dirty="0">
                <a:latin typeface="+mj-lt"/>
              </a:rPr>
              <a:t>Logical operators</a:t>
            </a:r>
          </a:p>
        </p:txBody>
      </p:sp>
      <p:graphicFrame>
        <p:nvGraphicFramePr>
          <p:cNvPr id="4" name="Table 4">
            <a:extLst>
              <a:ext uri="{FF2B5EF4-FFF2-40B4-BE49-F238E27FC236}">
                <a16:creationId xmlns="" xmlns:a16="http://schemas.microsoft.com/office/drawing/2014/main" id="{2516B905-D98A-6093-6AFE-9090D2E39C2D}"/>
              </a:ext>
            </a:extLst>
          </p:cNvPr>
          <p:cNvGraphicFramePr>
            <a:graphicFrameLocks noGrp="1"/>
          </p:cNvGraphicFramePr>
          <p:nvPr>
            <p:extLst>
              <p:ext uri="{D42A27DB-BD31-4B8C-83A1-F6EECF244321}">
                <p14:modId xmlns="" xmlns:p14="http://schemas.microsoft.com/office/powerpoint/2010/main" val="392585993"/>
              </p:ext>
            </p:extLst>
          </p:nvPr>
        </p:nvGraphicFramePr>
        <p:xfrm>
          <a:off x="449802" y="1700968"/>
          <a:ext cx="11292396" cy="4951077"/>
        </p:xfrm>
        <a:graphic>
          <a:graphicData uri="http://schemas.openxmlformats.org/drawingml/2006/table">
            <a:tbl>
              <a:tblPr firstRow="1" bandRow="1">
                <a:tableStyleId>{5C22544A-7EE6-4342-B048-85BDC9FD1C3A}</a:tableStyleId>
              </a:tblPr>
              <a:tblGrid>
                <a:gridCol w="2645546">
                  <a:extLst>
                    <a:ext uri="{9D8B030D-6E8A-4147-A177-3AD203B41FA5}">
                      <a16:colId xmlns="" xmlns:a16="http://schemas.microsoft.com/office/drawing/2014/main" val="1465708067"/>
                    </a:ext>
                  </a:extLst>
                </a:gridCol>
                <a:gridCol w="4882718">
                  <a:extLst>
                    <a:ext uri="{9D8B030D-6E8A-4147-A177-3AD203B41FA5}">
                      <a16:colId xmlns="" xmlns:a16="http://schemas.microsoft.com/office/drawing/2014/main" val="666514072"/>
                    </a:ext>
                  </a:extLst>
                </a:gridCol>
                <a:gridCol w="3764132">
                  <a:extLst>
                    <a:ext uri="{9D8B030D-6E8A-4147-A177-3AD203B41FA5}">
                      <a16:colId xmlns="" xmlns:a16="http://schemas.microsoft.com/office/drawing/2014/main" val="3868504702"/>
                    </a:ext>
                  </a:extLst>
                </a:gridCol>
              </a:tblGrid>
              <a:tr h="324034">
                <a:tc>
                  <a:txBody>
                    <a:bodyPr/>
                    <a:lstStyle/>
                    <a:p>
                      <a:pPr algn="l" fontAlgn="t"/>
                      <a:r>
                        <a:rPr lang="en-IN" dirty="0">
                          <a:effectLst/>
                        </a:rPr>
                        <a:t>Text operator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dirty="0">
                          <a:effectLst/>
                        </a:rPr>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dirty="0">
                          <a:effectLst/>
                        </a:rPr>
                        <a:t>Examples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79773307"/>
                  </a:ext>
                </a:extLst>
              </a:tr>
              <a:tr h="1657271">
                <a:tc>
                  <a:txBody>
                    <a:bodyPr/>
                    <a:lstStyle/>
                    <a:p>
                      <a:pPr algn="l" fontAlgn="t"/>
                      <a:r>
                        <a:rPr lang="en-IN" dirty="0">
                          <a:effectLst/>
                        </a:rPr>
                        <a:t>&amp;&amp; (double ampersand)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dirty="0">
                          <a:effectLst/>
                        </a:rPr>
                        <a:t>Creates an AND condition between two expressions that each have a Boolean result. If both expressions return TRUE, the combination of the expressions also returns TRUE; otherwise the combination returns 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([Region] = "France") &amp;&amp; ([BikeBuyer] = "yes"))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40512503"/>
                  </a:ext>
                </a:extLst>
              </a:tr>
              <a:tr h="1409969">
                <a:tc>
                  <a:txBody>
                    <a:bodyPr/>
                    <a:lstStyle/>
                    <a:p>
                      <a:pPr algn="l" fontAlgn="t"/>
                      <a:r>
                        <a:rPr lang="en-IN">
                          <a:effectLst/>
                        </a:rPr>
                        <a:t>|| (double pipe symbol)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a:effectLst/>
                        </a:rPr>
                        <a:t>Creates an OR condition between two logical expressions. If either expression returns TRUE, the result is TRUE; only when both expressions are FALSE is the result 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IN">
                          <a:effectLst/>
                        </a:rPr>
                        <a:t>(([Region] = "France") || ([BikeBuyer] = "yes"))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204907813"/>
                  </a:ext>
                </a:extLst>
              </a:tr>
              <a:tr h="1518077">
                <a:tc>
                  <a:txBody>
                    <a:bodyPr/>
                    <a:lstStyle/>
                    <a:p>
                      <a:pPr algn="l" fontAlgn="t"/>
                      <a:r>
                        <a:rPr lang="en-IN" dirty="0">
                          <a:effectLst/>
                        </a:rPr>
                        <a:t>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a:effectLst/>
                        </a:rPr>
                        <a:t>Creates a logical OR condition between each row being compared to a table. Note: the table constructor syntax uses curly braces.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dirty="0">
                          <a:effectLst/>
                        </a:rPr>
                        <a:t>'Product'[Color] IN { "Red", "Blue", "Black"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805662672"/>
                  </a:ext>
                </a:extLst>
              </a:tr>
            </a:tbl>
          </a:graphicData>
        </a:graphic>
      </p:graphicFrame>
    </p:spTree>
    <p:extLst>
      <p:ext uri="{BB962C8B-B14F-4D97-AF65-F5344CB8AC3E}">
        <p14:creationId xmlns="" xmlns:p14="http://schemas.microsoft.com/office/powerpoint/2010/main" val="3091332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568</Words>
  <Application>Microsoft Office PowerPoint</Application>
  <PresentationFormat>Custom</PresentationFormat>
  <Paragraphs>112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DAX Expressions</vt:lpstr>
      <vt:lpstr>DAX Expressions</vt:lpstr>
      <vt:lpstr>DAX Expressions</vt:lpstr>
      <vt:lpstr>DAX Expressions</vt:lpstr>
      <vt:lpstr>Types of DAX Expressions</vt:lpstr>
      <vt:lpstr>Types of DAX Expressions</vt:lpstr>
      <vt:lpstr>Types of DAX Expressions</vt:lpstr>
      <vt:lpstr>Types of DAX Expressions</vt:lpstr>
      <vt:lpstr>Types of DAX Expressions</vt:lpstr>
      <vt:lpstr>Types of DAX Expressions</vt:lpstr>
      <vt:lpstr>Types of DAX Expressions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DAX Expressions</dc:title>
  <dc:creator>HP</dc:creator>
  <cp:lastModifiedBy>HP</cp:lastModifiedBy>
  <cp:revision>14</cp:revision>
  <dcterms:created xsi:type="dcterms:W3CDTF">2023-08-11T12:58:01Z</dcterms:created>
  <dcterms:modified xsi:type="dcterms:W3CDTF">2023-11-30T04:08:14Z</dcterms:modified>
</cp:coreProperties>
</file>
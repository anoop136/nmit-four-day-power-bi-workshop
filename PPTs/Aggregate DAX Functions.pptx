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466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183F05-95BA-DB56-AF36-106C7A36F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431102D-958F-D853-F942-9B52138B3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F4A17B4-CA24-B968-FDD1-897C7342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EB55FD-C711-89EC-A055-63A35983F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A9C84D-965F-8F2A-512E-AF9DC82AD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1509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6B6544-177A-BE0C-3A0F-33AF56EE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D84422-D105-ED6A-96BA-9409E006D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468D85-CAF1-B9EF-332B-B78AD9AF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4DA516-7F03-3CD8-F9F9-197F70A9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610D93-8836-A410-4778-152C4539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50031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940545-0844-DA30-42FD-D7AC674F0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73E7076-30F7-7993-322F-8443CDBA2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D5ADD0-F8A4-0070-06A0-1F321ED7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5389FF-A66C-945D-B9B4-12E819C1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4B7E35-CA10-E35F-F9CD-E7B7100F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3364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D4A5EC-D5DA-10BB-4341-6F3B3FEF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BD15F0-12A3-CBA2-2C9C-42FCC6F53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2A75997-F0E4-C2DF-A5A7-8D9A476E1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5AA74FF-7C7B-A530-D7B3-97D44610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A2FA550-57F2-44BC-475F-1DF9DFAD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800858-0B62-7375-298B-BD2DDFAD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68506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E7EE41-22E7-2096-E1D1-058A8D89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2259783-DDCF-11E0-04FE-7B7006B69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D49CC28-ED84-4223-2C61-08D80693F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C850094-AA14-0FB2-5CE5-8D5B35F4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98E1232-8865-60DF-006E-E69BBC5EC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8AD4AFE-8920-3083-BE0E-F3AA957DD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C974BB5-55E3-862D-2EE0-3224CFCB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623E0B9-4029-0615-9ED8-43001202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9457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51ECFB-0FD5-1758-A654-B6816F51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5AA0FAE-BFB0-66B9-205C-0BD471B3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67ACB3B-BAE1-6B3A-72E9-709F34DF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DF50B65-71AC-1612-F068-6D5CC1E9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6684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4ADE235-E1CB-630D-1894-F7CFF635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A4412EF-4EF9-93A1-BC0A-06F6F971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6E100C9-E301-FA1A-CA5C-F36D53C8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0914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B5F940-3E92-0B44-B9BD-6474595D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E59316-DA86-D685-C950-B332DF14D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ADC2CAF-1659-C420-7B76-AC495AAEE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3048034-A67D-8621-C64E-583BC523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1FA0A99-C298-587E-7148-F05594FC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5C10A67-1F22-1960-61F0-FA7A74E0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71070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2B44D-5632-89BD-C95F-95333D34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1B3C423-F7D5-A202-8BC2-336BD2A100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DE6E000-6DCF-CD8C-7812-3D7AC9E93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6094BE0-435D-51C4-F128-1D86F08B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41AE3A3-C750-3455-2F1A-E91BD3EF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874D50F-7FC7-CE5C-E76A-F9120061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04519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DD219E-4B31-96EA-D4DC-98C7C026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17A9E72-B190-4DCF-81F6-7A76AC0E7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96617BF-977F-5273-E458-164055F64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712E1E8-6FD8-94FC-5ACB-74A0DF27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00060F4-B871-B87C-A64A-0DD029F7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0317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62412E3-B9FE-61B2-C87E-0082B45BD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F94CC25-F77E-E4DD-A822-30711AFD2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1FECAA-2C7F-C568-B779-B3D19BA0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C5476BE-B011-03D2-49DF-BBE31213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4586D29-E7E1-7CEA-01A1-F3B8E871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7142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678D82C-B10F-55FF-B7C2-FFF529DB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60EC657-D86F-2D74-920A-9D731F54D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8A4BC6-BDB3-5889-9300-F68DAA802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17293-34EF-4E0F-BC50-B83B8414924A}" type="datetimeFigureOut">
              <a:rPr lang="en-IN" smtClean="0"/>
              <a:pPr/>
              <a:t>13-08-2023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FA9766-E8AB-1172-EF07-854873606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1CFA67-EDDA-92EE-F375-6EEAB9B7D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20777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ax/count-function-dax" TargetMode="External"/><Relationship Id="rId2" Type="http://schemas.openxmlformats.org/officeDocument/2006/relationships/hyperlink" Target="https://learn.microsoft.com/en-us/dax/average-function-dax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earn.microsoft.com/en-us/dax/countrows-function-dax" TargetMode="External"/><Relationship Id="rId4" Type="http://schemas.openxmlformats.org/officeDocument/2006/relationships/hyperlink" Target="https://learn.microsoft.com/en-us/dax/countblank-function-da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ax/distinctcountnoblank-function-dax" TargetMode="External"/><Relationship Id="rId2" Type="http://schemas.openxmlformats.org/officeDocument/2006/relationships/hyperlink" Target="https://learn.microsoft.com/en-us/dax/distinctcount-function-dax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dax/sum-function-dax" TargetMode="External"/><Relationship Id="rId5" Type="http://schemas.openxmlformats.org/officeDocument/2006/relationships/hyperlink" Target="https://learn.microsoft.com/en-us/dax/min-function-dax" TargetMode="External"/><Relationship Id="rId4" Type="http://schemas.openxmlformats.org/officeDocument/2006/relationships/hyperlink" Target="https://learn.microsoft.com/en-us/dax/max-function-dax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A86D70-28D0-03CC-249F-56754170A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5876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Aggregate</a:t>
            </a:r>
            <a:r>
              <a:rPr lang="en-US" dirty="0" smtClean="0"/>
              <a:t> DAX </a:t>
            </a:r>
            <a:r>
              <a:rPr lang="en-US" dirty="0"/>
              <a:t>Expressions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0FB14C4-5FC1-B885-D626-F9B680DB9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249" y="1600200"/>
            <a:ext cx="11505461" cy="4631924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Aggregation functions calculate a (scalar) value such as count, sum, average, minimum, or maximum for all rows in a column or table as defined by the expression.</a:t>
            </a:r>
            <a:endParaRPr lang="en-IN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278" y="3221965"/>
          <a:ext cx="10594590" cy="841077"/>
        </p:xfrm>
        <a:graphic>
          <a:graphicData uri="http://schemas.openxmlformats.org/drawingml/2006/table">
            <a:tbl>
              <a:tblPr/>
              <a:tblGrid>
                <a:gridCol w="4909782"/>
                <a:gridCol w="5684808"/>
              </a:tblGrid>
              <a:tr h="841077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hlinkClick r:id="rId2"/>
                        </a:rPr>
                        <a:t>AVERAGE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Returns the average (arithmetic mean) of all the numbers in a column.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9510" y="4197613"/>
          <a:ext cx="10455214" cy="640080"/>
        </p:xfrm>
        <a:graphic>
          <a:graphicData uri="http://schemas.openxmlformats.org/drawingml/2006/table">
            <a:tbl>
              <a:tblPr/>
              <a:tblGrid>
                <a:gridCol w="4925682"/>
                <a:gridCol w="5529532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hlinkClick r:id="rId3"/>
                        </a:rPr>
                        <a:t>COUNT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Counts the number of rows in the specified column that contain non-blank values.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6762" y="5206041"/>
          <a:ext cx="10679502" cy="1005840"/>
        </p:xfrm>
        <a:graphic>
          <a:graphicData uri="http://schemas.openxmlformats.org/drawingml/2006/table">
            <a:tbl>
              <a:tblPr/>
              <a:tblGrid>
                <a:gridCol w="4908430"/>
                <a:gridCol w="5771072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u="sng" dirty="0">
                          <a:hlinkClick r:id="rId4"/>
                        </a:rPr>
                        <a:t>COUNTBLANK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Counts the number of blank cells in a column.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>
                          <a:hlinkClick r:id="rId5"/>
                        </a:rPr>
                        <a:t>COUNTROWS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Counts the number of rows in the specified table, or in a table defined by an expression.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0203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A86D70-28D0-03CC-249F-56754170A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5876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Aggregate</a:t>
            </a:r>
            <a:r>
              <a:rPr lang="en-US" dirty="0" smtClean="0"/>
              <a:t> DAX </a:t>
            </a:r>
            <a:r>
              <a:rPr lang="en-US" dirty="0"/>
              <a:t>Expressions</a:t>
            </a:r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8157" y="1478566"/>
          <a:ext cx="10749866" cy="1371600"/>
        </p:xfrm>
        <a:graphic>
          <a:graphicData uri="http://schemas.openxmlformats.org/drawingml/2006/table">
            <a:tbl>
              <a:tblPr/>
              <a:tblGrid>
                <a:gridCol w="4581979"/>
                <a:gridCol w="6167887"/>
              </a:tblGrid>
              <a:tr h="364840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hlinkClick r:id="rId2"/>
                        </a:rPr>
                        <a:t>DISTINCTCOUNT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Counts the number of distinct values in a column.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4840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hlinkClick r:id="rId3"/>
                        </a:rPr>
                        <a:t>DISTINCTCOUNTNOBLANK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Counts the number of distinct values in a column.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470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>
                          <a:hlinkClick r:id="rId4"/>
                        </a:rPr>
                        <a:t>MAX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Returns the largest numeric value in a column, or between two scalar expressions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5388" y="3497373"/>
          <a:ext cx="10705382" cy="1425965"/>
        </p:xfrm>
        <a:graphic>
          <a:graphicData uri="http://schemas.openxmlformats.org/drawingml/2006/table">
            <a:tbl>
              <a:tblPr/>
              <a:tblGrid>
                <a:gridCol w="4563374"/>
                <a:gridCol w="6142008"/>
              </a:tblGrid>
              <a:tr h="92687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hlinkClick r:id="rId5"/>
                        </a:rPr>
                        <a:t>MIN</a:t>
                      </a:r>
                      <a:endParaRPr lang="en-US" sz="1800" dirty="0"/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/>
                        <a:t>Returns the smallest numeric value in a column, or between two scalar expressions.</a:t>
                      </a:r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90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hlinkClick r:id="rId6"/>
                        </a:rPr>
                        <a:t>SUM</a:t>
                      </a:r>
                      <a:endParaRPr lang="en-US" sz="1800" dirty="0"/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Adds all the numbers in a column.</a:t>
                      </a:r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02030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A86D70-28D0-03CC-249F-56754170A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5876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Aggregate</a:t>
            </a:r>
            <a:r>
              <a:rPr lang="en-US" dirty="0" smtClean="0"/>
              <a:t> DAX </a:t>
            </a:r>
            <a:r>
              <a:rPr lang="en-US" dirty="0"/>
              <a:t>Expressions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191110" y="1095555"/>
            <a:ext cx="8177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 smtClean="0"/>
              <a:t>Iterator</a:t>
            </a:r>
            <a:r>
              <a:rPr lang="en-US" sz="2800" dirty="0" smtClean="0"/>
              <a:t> DAX functions</a:t>
            </a:r>
            <a:endParaRPr lang="en-US" sz="2800" dirty="0"/>
          </a:p>
        </p:txBody>
      </p:sp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353683" y="3709359"/>
            <a:ext cx="3881887" cy="172354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161616"/>
                </a:solidFill>
                <a:effectLst/>
                <a:latin typeface="Segoe UI" pitchFamily="34" charset="0"/>
                <a:cs typeface="Segoe UI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61616"/>
                </a:solidFill>
                <a:effectLst/>
                <a:latin typeface="Segoe UI" pitchFamily="34" charset="0"/>
                <a:cs typeface="Segoe UI" pitchFamily="34" charset="0"/>
              </a:rPr>
              <a:t>DAX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0101FD"/>
              </a:solidFill>
              <a:effectLst/>
              <a:latin typeface="SFMono-Regular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101FD"/>
                </a:solidFill>
                <a:effectLst/>
                <a:latin typeface="SFMono-Regular"/>
                <a:cs typeface="Arial" pitchFamily="34" charset="0"/>
              </a:rPr>
              <a:t>SUMX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61616"/>
                </a:solidFill>
                <a:effectLst/>
                <a:latin typeface="SFMono-Regular"/>
                <a:cs typeface="Arial" pitchFamily="34" charset="0"/>
              </a:rPr>
              <a:t>(&lt;table&gt;, &lt;expression&gt;)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492" y="3669676"/>
          <a:ext cx="7049134" cy="1645920"/>
        </p:xfrm>
        <a:graphic>
          <a:graphicData uri="http://schemas.openxmlformats.org/drawingml/2006/table">
            <a:tbl>
              <a:tblPr/>
              <a:tblGrid>
                <a:gridCol w="1666251"/>
                <a:gridCol w="5382883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/>
                        <a:t>Term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/>
                        <a:t>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The table containing the rows for which the expression will be evaluated.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expression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The expression to be evaluated for each row of the table.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6374922" y="2579297"/>
            <a:ext cx="2346384" cy="101556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190440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161616"/>
                </a:solidFill>
                <a:effectLst/>
                <a:latin typeface="Segoe UI" pitchFamily="34" charset="0"/>
                <a:cs typeface="Segoe UI" pitchFamily="34" charset="0"/>
              </a:rPr>
              <a:t>Parameters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5424" y="1829602"/>
            <a:ext cx="162416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SUMX</a:t>
            </a:r>
            <a:endParaRPr lang="en-US" sz="4400" b="1" dirty="0"/>
          </a:p>
        </p:txBody>
      </p:sp>
      <p:sp>
        <p:nvSpPr>
          <p:cNvPr id="11" name="Rectangle 10"/>
          <p:cNvSpPr/>
          <p:nvPr/>
        </p:nvSpPr>
        <p:spPr>
          <a:xfrm>
            <a:off x="2670141" y="1740462"/>
            <a:ext cx="270407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AVERAGEX</a:t>
            </a:r>
            <a:endParaRPr lang="en-US" sz="4400" b="1" dirty="0"/>
          </a:p>
        </p:txBody>
      </p:sp>
      <p:sp>
        <p:nvSpPr>
          <p:cNvPr id="12" name="Rectangle 11"/>
          <p:cNvSpPr/>
          <p:nvPr/>
        </p:nvSpPr>
        <p:spPr>
          <a:xfrm>
            <a:off x="5703764" y="1780719"/>
            <a:ext cx="21907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COUNTX</a:t>
            </a:r>
            <a:endParaRPr lang="en-US" sz="4400" b="1" dirty="0"/>
          </a:p>
        </p:txBody>
      </p:sp>
      <p:sp>
        <p:nvSpPr>
          <p:cNvPr id="13" name="Rectangle 12"/>
          <p:cNvSpPr/>
          <p:nvPr/>
        </p:nvSpPr>
        <p:spPr>
          <a:xfrm>
            <a:off x="8185296" y="1726085"/>
            <a:ext cx="16417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MAXX</a:t>
            </a:r>
            <a:endParaRPr lang="en-US" sz="4400" b="1" dirty="0"/>
          </a:p>
        </p:txBody>
      </p:sp>
      <p:sp>
        <p:nvSpPr>
          <p:cNvPr id="14" name="Rectangle 13"/>
          <p:cNvSpPr/>
          <p:nvPr/>
        </p:nvSpPr>
        <p:spPr>
          <a:xfrm>
            <a:off x="10175123" y="1731836"/>
            <a:ext cx="15119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MINX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xmlns="" val="230203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214</Words>
  <Application>Microsoft Office PowerPoint</Application>
  <PresentationFormat>Custom</PresentationFormat>
  <Paragraphs>38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Aggregate DAX Expressions</vt:lpstr>
      <vt:lpstr>Aggregate DAX Expressions</vt:lpstr>
      <vt:lpstr>Aggregate DAX Expressions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DAX Expressions</dc:title>
  <dc:creator>HP</dc:creator>
  <cp:lastModifiedBy>HP</cp:lastModifiedBy>
  <cp:revision>19</cp:revision>
  <dcterms:created xsi:type="dcterms:W3CDTF">2023-08-11T12:58:01Z</dcterms:created>
  <dcterms:modified xsi:type="dcterms:W3CDTF">2023-08-13T01:16:55Z</dcterms:modified>
</cp:coreProperties>
</file>
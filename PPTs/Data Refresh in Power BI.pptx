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DE75E-C3D1-7D8D-AF9B-AB66777825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19F3347-6C25-9870-162E-C03AB8D88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867117-CBF8-A0C3-E7D8-7E9EE0B3ECA6}"/>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5" name="Footer Placeholder 4">
            <a:extLst>
              <a:ext uri="{FF2B5EF4-FFF2-40B4-BE49-F238E27FC236}">
                <a16:creationId xmlns:a16="http://schemas.microsoft.com/office/drawing/2014/main" id="{18D5B6D7-53D1-8839-9B0E-B2A8EEF0BD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A9C697-77D0-58C0-2391-1AE8640B6592}"/>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2070792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3EE3A-E8A2-7FF9-23BD-A5E017FDE2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969141-DD00-31FE-054A-21F158D1FC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6DCCC7-4FCE-303A-57FE-4E3D09B40892}"/>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5" name="Footer Placeholder 4">
            <a:extLst>
              <a:ext uri="{FF2B5EF4-FFF2-40B4-BE49-F238E27FC236}">
                <a16:creationId xmlns:a16="http://schemas.microsoft.com/office/drawing/2014/main" id="{83D52543-7191-3F02-D921-6DC67CF871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240325-E631-D3B9-503F-077D06E0ECBF}"/>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320375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E4A4B-B9E6-8FA2-751E-A4EEF75C1C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E4516C-55F9-8EB7-A8A3-35CB0AA49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2EF29C-E87A-CA16-CAC5-8DECCB76B4BF}"/>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5" name="Footer Placeholder 4">
            <a:extLst>
              <a:ext uri="{FF2B5EF4-FFF2-40B4-BE49-F238E27FC236}">
                <a16:creationId xmlns:a16="http://schemas.microsoft.com/office/drawing/2014/main" id="{B15EB091-9BE9-63D4-F587-D47387666C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B4605B-F085-9AA9-76B1-75848F282FDA}"/>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3874763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FF16B-DD9C-9837-F96A-5F5CA0C492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6D1464-A30C-ED99-3C6A-12EA4C62C6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4C44ED-1463-7AC1-2E90-6B96B68754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FA03820-9CB4-AA47-E0E9-C3ADC015BB96}"/>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6" name="Footer Placeholder 5">
            <a:extLst>
              <a:ext uri="{FF2B5EF4-FFF2-40B4-BE49-F238E27FC236}">
                <a16:creationId xmlns:a16="http://schemas.microsoft.com/office/drawing/2014/main" id="{47E6ADD3-584D-EFD5-0EC0-1E29E013C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5ECBC7-300C-507A-15D2-FBA20FE12041}"/>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630889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9C141-9837-48DC-A3B6-12472B89FA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F034F4-CAFB-E33E-B9C9-1B723C9123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87BC91-E0E8-6AA2-B7D5-3C4403D1BA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F43FB0F-9A10-BFFE-3D29-4408F565F1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0C1B4A-5607-B014-7FA3-5599B16971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DB7D4E3-2FC5-4E8A-047B-EF7240BA5EAD}"/>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8" name="Footer Placeholder 7">
            <a:extLst>
              <a:ext uri="{FF2B5EF4-FFF2-40B4-BE49-F238E27FC236}">
                <a16:creationId xmlns:a16="http://schemas.microsoft.com/office/drawing/2014/main" id="{FA4A162F-631F-63C8-30CC-AA23C344E86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F4DA502-63F6-6F4E-694E-34B7F18E6F27}"/>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640516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A15A-DBE1-F1D8-ACC4-50D02E5B5B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617730-FCAC-58E5-94D0-F1A52B643124}"/>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4" name="Footer Placeholder 3">
            <a:extLst>
              <a:ext uri="{FF2B5EF4-FFF2-40B4-BE49-F238E27FC236}">
                <a16:creationId xmlns:a16="http://schemas.microsoft.com/office/drawing/2014/main" id="{7AF808E8-92B4-0E23-139E-568FB620B99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3C3395-66F3-88E5-8FFD-36D5E8432B25}"/>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2216765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F0BC50-095A-EC37-8CC7-4169DFD6562E}"/>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3" name="Footer Placeholder 2">
            <a:extLst>
              <a:ext uri="{FF2B5EF4-FFF2-40B4-BE49-F238E27FC236}">
                <a16:creationId xmlns:a16="http://schemas.microsoft.com/office/drawing/2014/main" id="{707A6B3D-EA66-E2A6-D2B8-A16D3774C6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E68CC7-68CA-55C1-DD9A-F40F96E0E8AB}"/>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2671500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A7913-4376-35FF-552A-A2809892D4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177B02-D06E-B0E5-D98E-9135F3C08C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B5CEB4-8E48-A773-FD49-18CC598B89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338A0C-D883-F577-5F40-677800CB6DC8}"/>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6" name="Footer Placeholder 5">
            <a:extLst>
              <a:ext uri="{FF2B5EF4-FFF2-40B4-BE49-F238E27FC236}">
                <a16:creationId xmlns:a16="http://schemas.microsoft.com/office/drawing/2014/main" id="{D6110A30-5DC7-222C-2F89-B2B16622EE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3D6CE4-DEB1-2EF1-2417-A13DEEF54D4C}"/>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1692685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A8E60-7389-6AEE-C265-966A13490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598407-6249-5966-C5F4-F70F65675B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BE7812F-9001-4114-F7DE-F5F04FC8D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229E4B-9C72-9287-0EE0-C9014B657F1E}"/>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6" name="Footer Placeholder 5">
            <a:extLst>
              <a:ext uri="{FF2B5EF4-FFF2-40B4-BE49-F238E27FC236}">
                <a16:creationId xmlns:a16="http://schemas.microsoft.com/office/drawing/2014/main" id="{B5196D85-8124-C357-30DE-570C80F960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B823CA-F4A2-F118-F14A-77895A5E5468}"/>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1339135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64AD9-A40B-FC74-3B1C-6435F9D05C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31A8C0-C838-DECC-047E-EAC8AED7C1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33C0CF-79F9-913C-A3A4-AF2D3D5412D2}"/>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5" name="Footer Placeholder 4">
            <a:extLst>
              <a:ext uri="{FF2B5EF4-FFF2-40B4-BE49-F238E27FC236}">
                <a16:creationId xmlns:a16="http://schemas.microsoft.com/office/drawing/2014/main" id="{02C44E51-0A2F-6E53-0CB6-3F59C884FF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CE696D-21C5-D43D-521C-AC9DEE17E7F1}"/>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2725179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387D2B-29C0-A37F-23E1-AE30B5D297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5898F8-E1B0-557A-D300-EFBFCB3C70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09009A-5155-A903-C9C5-E39F16AA9686}"/>
              </a:ext>
            </a:extLst>
          </p:cNvPr>
          <p:cNvSpPr>
            <a:spLocks noGrp="1"/>
          </p:cNvSpPr>
          <p:nvPr>
            <p:ph type="dt" sz="half" idx="10"/>
          </p:nvPr>
        </p:nvSpPr>
        <p:spPr/>
        <p:txBody>
          <a:bodyPr/>
          <a:lstStyle/>
          <a:p>
            <a:fld id="{AE00DF28-EF71-4392-8C72-BB6312C2352B}" type="datetimeFigureOut">
              <a:rPr lang="en-IN" smtClean="0"/>
              <a:t>25-09-2023</a:t>
            </a:fld>
            <a:endParaRPr lang="en-IN"/>
          </a:p>
        </p:txBody>
      </p:sp>
      <p:sp>
        <p:nvSpPr>
          <p:cNvPr id="5" name="Footer Placeholder 4">
            <a:extLst>
              <a:ext uri="{FF2B5EF4-FFF2-40B4-BE49-F238E27FC236}">
                <a16:creationId xmlns:a16="http://schemas.microsoft.com/office/drawing/2014/main" id="{2A36E322-2412-1ED7-1668-B55AF4B5ED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D681A9-905D-6B3F-4995-4631CABE60FE}"/>
              </a:ext>
            </a:extLst>
          </p:cNvPr>
          <p:cNvSpPr>
            <a:spLocks noGrp="1"/>
          </p:cNvSpPr>
          <p:nvPr>
            <p:ph type="sldNum" sz="quarter" idx="12"/>
          </p:nvPr>
        </p:nvSpPr>
        <p:spPr/>
        <p:txBody>
          <a:bodyPr/>
          <a:lstStyle/>
          <a:p>
            <a:fld id="{C38AA342-45F6-47EE-8A2E-C87A7E1B2F2E}" type="slidenum">
              <a:rPr lang="en-IN" smtClean="0"/>
              <a:t>‹#›</a:t>
            </a:fld>
            <a:endParaRPr lang="en-IN"/>
          </a:p>
        </p:txBody>
      </p:sp>
    </p:spTree>
    <p:extLst>
      <p:ext uri="{BB962C8B-B14F-4D97-AF65-F5344CB8AC3E}">
        <p14:creationId xmlns:p14="http://schemas.microsoft.com/office/powerpoint/2010/main" val="363089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FA1EF3-B710-A5D3-5E2C-97D6A3BDAD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561FEA-82F6-E1D1-A13A-8508601E9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F0C8DC-AB7B-8D58-761F-83CDB3A7AD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00DF28-EF71-4392-8C72-BB6312C2352B}" type="datetimeFigureOut">
              <a:rPr lang="en-IN" smtClean="0"/>
              <a:t>25-09-2023</a:t>
            </a:fld>
            <a:endParaRPr lang="en-IN"/>
          </a:p>
        </p:txBody>
      </p:sp>
      <p:sp>
        <p:nvSpPr>
          <p:cNvPr id="5" name="Footer Placeholder 4">
            <a:extLst>
              <a:ext uri="{FF2B5EF4-FFF2-40B4-BE49-F238E27FC236}">
                <a16:creationId xmlns:a16="http://schemas.microsoft.com/office/drawing/2014/main" id="{53536900-163D-118E-E0BA-DA9DF77821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A4AEC4-0203-482E-9704-AA33FA7C13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AA342-45F6-47EE-8A2E-C87A7E1B2F2E}" type="slidenum">
              <a:rPr lang="en-IN" smtClean="0"/>
              <a:t>‹#›</a:t>
            </a:fld>
            <a:endParaRPr lang="en-IN"/>
          </a:p>
        </p:txBody>
      </p:sp>
    </p:spTree>
    <p:extLst>
      <p:ext uri="{BB962C8B-B14F-4D97-AF65-F5344CB8AC3E}">
        <p14:creationId xmlns:p14="http://schemas.microsoft.com/office/powerpoint/2010/main" val="880489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FEA8-AE2A-A4D6-23AA-E3237274C0D1}"/>
              </a:ext>
            </a:extLst>
          </p:cNvPr>
          <p:cNvSpPr>
            <a:spLocks noGrp="1"/>
          </p:cNvSpPr>
          <p:nvPr>
            <p:ph type="ctrTitle"/>
          </p:nvPr>
        </p:nvSpPr>
        <p:spPr>
          <a:xfrm>
            <a:off x="1524000" y="403272"/>
            <a:ext cx="9144000" cy="697559"/>
          </a:xfrm>
        </p:spPr>
        <p:txBody>
          <a:bodyPr>
            <a:normAutofit fontScale="90000"/>
          </a:bodyPr>
          <a:lstStyle/>
          <a:p>
            <a:r>
              <a:rPr lang="en-US" dirty="0"/>
              <a:t>Data Refresh in Power BI</a:t>
            </a:r>
            <a:endParaRPr lang="en-IN" dirty="0"/>
          </a:p>
        </p:txBody>
      </p:sp>
      <p:sp>
        <p:nvSpPr>
          <p:cNvPr id="3" name="Subtitle 2">
            <a:extLst>
              <a:ext uri="{FF2B5EF4-FFF2-40B4-BE49-F238E27FC236}">
                <a16:creationId xmlns:a16="http://schemas.microsoft.com/office/drawing/2014/main" id="{9D7AD254-8ED2-7429-25E3-473555207FE3}"/>
              </a:ext>
            </a:extLst>
          </p:cNvPr>
          <p:cNvSpPr>
            <a:spLocks noGrp="1"/>
          </p:cNvSpPr>
          <p:nvPr>
            <p:ph type="subTitle" idx="1"/>
          </p:nvPr>
        </p:nvSpPr>
        <p:spPr>
          <a:xfrm>
            <a:off x="825623" y="1233996"/>
            <a:ext cx="10804125" cy="4891596"/>
          </a:xfrm>
        </p:spPr>
        <p:txBody>
          <a:bodyPr>
            <a:normAutofit/>
          </a:bodyPr>
          <a:lstStyle/>
          <a:p>
            <a:pPr marL="342900" indent="-342900" algn="just">
              <a:buFont typeface="Arial" panose="020B0604020202020204" pitchFamily="34" charset="0"/>
              <a:buChar char="•"/>
            </a:pPr>
            <a:r>
              <a:rPr lang="en-US" b="0" i="0" dirty="0">
                <a:solidFill>
                  <a:srgbClr val="161616"/>
                </a:solidFill>
                <a:effectLst/>
                <a:latin typeface="Segoe UI" panose="020B0502040204020203" pitchFamily="34" charset="0"/>
              </a:rPr>
              <a:t>When your datasets are published to your organization's workspace in Microsoft Power BI service, everyone who needs access to those datasets can find them in a central location, which provides opportunities for collaboration between teams. </a:t>
            </a:r>
          </a:p>
          <a:p>
            <a:pPr marL="342900" indent="-342900" algn="just">
              <a:buFont typeface="Arial" panose="020B0604020202020204" pitchFamily="34" charset="0"/>
              <a:buChar char="•"/>
            </a:pPr>
            <a:r>
              <a:rPr lang="en-US" b="0" i="0" dirty="0">
                <a:solidFill>
                  <a:srgbClr val="161616"/>
                </a:solidFill>
                <a:effectLst/>
                <a:latin typeface="Segoe UI" panose="020B0502040204020203" pitchFamily="34" charset="0"/>
              </a:rPr>
              <a:t>It also reduces the duplication of effort because one dataset can be used by multiple users for different business reasons. For instance, one dataset can be used to create multiple Power BI reports. Because preparing and cleaning data can be time-consuming, sharing datasets can be a productivity boost for report authors.</a:t>
            </a:r>
          </a:p>
          <a:p>
            <a:pPr marL="342900" indent="-342900" algn="just">
              <a:buFont typeface="Arial" panose="020B0604020202020204" pitchFamily="34" charset="0"/>
              <a:buChar char="•"/>
            </a:pPr>
            <a:r>
              <a:rPr lang="en-US" b="0" i="0" dirty="0">
                <a:solidFill>
                  <a:srgbClr val="161616"/>
                </a:solidFill>
                <a:effectLst/>
                <a:latin typeface="Segoe UI" panose="020B0502040204020203" pitchFamily="34" charset="0"/>
              </a:rPr>
              <a:t>Power BI enables you to go from data to insight to action quickly, yet you must make sure the data in your Power BI reports and dashboards is recent. </a:t>
            </a:r>
          </a:p>
          <a:p>
            <a:pPr marL="342900" indent="-342900" algn="just">
              <a:buFont typeface="Arial" panose="020B0604020202020204" pitchFamily="34" charset="0"/>
              <a:buChar char="•"/>
            </a:pPr>
            <a:r>
              <a:rPr lang="en-US" b="0" i="0" dirty="0">
                <a:solidFill>
                  <a:srgbClr val="161616"/>
                </a:solidFill>
                <a:effectLst/>
                <a:latin typeface="Segoe UI" panose="020B0502040204020203" pitchFamily="34" charset="0"/>
              </a:rPr>
              <a:t>Knowing how to refresh the data is often critical in delivering accurate results.</a:t>
            </a:r>
            <a:endParaRPr lang="en-IN" dirty="0"/>
          </a:p>
        </p:txBody>
      </p:sp>
    </p:spTree>
    <p:extLst>
      <p:ext uri="{BB962C8B-B14F-4D97-AF65-F5344CB8AC3E}">
        <p14:creationId xmlns:p14="http://schemas.microsoft.com/office/powerpoint/2010/main" val="1051327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FEA8-AE2A-A4D6-23AA-E3237274C0D1}"/>
              </a:ext>
            </a:extLst>
          </p:cNvPr>
          <p:cNvSpPr>
            <a:spLocks noGrp="1"/>
          </p:cNvSpPr>
          <p:nvPr>
            <p:ph type="ctrTitle"/>
          </p:nvPr>
        </p:nvSpPr>
        <p:spPr>
          <a:xfrm>
            <a:off x="1524000" y="403272"/>
            <a:ext cx="9144000" cy="697559"/>
          </a:xfrm>
        </p:spPr>
        <p:txBody>
          <a:bodyPr>
            <a:normAutofit fontScale="90000"/>
          </a:bodyPr>
          <a:lstStyle/>
          <a:p>
            <a:r>
              <a:rPr lang="en-US" dirty="0"/>
              <a:t>Data Refresh in Power BI</a:t>
            </a:r>
            <a:endParaRPr lang="en-IN" dirty="0"/>
          </a:p>
        </p:txBody>
      </p:sp>
      <p:sp>
        <p:nvSpPr>
          <p:cNvPr id="3" name="Subtitle 2">
            <a:extLst>
              <a:ext uri="{FF2B5EF4-FFF2-40B4-BE49-F238E27FC236}">
                <a16:creationId xmlns:a16="http://schemas.microsoft.com/office/drawing/2014/main" id="{9D7AD254-8ED2-7429-25E3-473555207FE3}"/>
              </a:ext>
            </a:extLst>
          </p:cNvPr>
          <p:cNvSpPr>
            <a:spLocks noGrp="1"/>
          </p:cNvSpPr>
          <p:nvPr>
            <p:ph type="subTitle" idx="1"/>
          </p:nvPr>
        </p:nvSpPr>
        <p:spPr>
          <a:xfrm>
            <a:off x="831541" y="1526959"/>
            <a:ext cx="10528917" cy="4023804"/>
          </a:xfrm>
        </p:spPr>
        <p:txBody>
          <a:bodyPr>
            <a:normAutofit fontScale="92500" lnSpcReduction="10000"/>
          </a:bodyPr>
          <a:lstStyle/>
          <a:p>
            <a:pPr marL="571500" indent="-571500" algn="just">
              <a:buFont typeface="Arial" panose="020B0604020202020204" pitchFamily="34" charset="0"/>
              <a:buChar char="•"/>
            </a:pPr>
            <a:r>
              <a:rPr lang="en-US" sz="3600" b="0" i="0" dirty="0">
                <a:solidFill>
                  <a:srgbClr val="161616"/>
                </a:solidFill>
                <a:effectLst/>
                <a:latin typeface="Segoe UI" panose="020B0502040204020203" pitchFamily="34" charset="0"/>
              </a:rPr>
              <a:t>For Power BI users, refreshing data typically means importing data from the original data sources into a dataset, either based on a refresh schedule or on-demand. </a:t>
            </a:r>
          </a:p>
          <a:p>
            <a:pPr marL="571500" indent="-571500" algn="just">
              <a:buFont typeface="Arial" panose="020B0604020202020204" pitchFamily="34" charset="0"/>
              <a:buChar char="•"/>
            </a:pPr>
            <a:r>
              <a:rPr lang="en-US" sz="3600" b="0" i="0" dirty="0">
                <a:solidFill>
                  <a:srgbClr val="161616"/>
                </a:solidFill>
                <a:effectLst/>
                <a:latin typeface="Segoe UI" panose="020B0502040204020203" pitchFamily="34" charset="0"/>
              </a:rPr>
              <a:t>You can perform multiple dataset refreshes daily, which might be necessary if the underlying source data changes frequently. Power BI limits datasets on shared capacity to eight scheduled daily dataset refreshes</a:t>
            </a:r>
            <a:endParaRPr lang="en-IN" sz="3600" dirty="0"/>
          </a:p>
        </p:txBody>
      </p:sp>
    </p:spTree>
    <p:extLst>
      <p:ext uri="{BB962C8B-B14F-4D97-AF65-F5344CB8AC3E}">
        <p14:creationId xmlns:p14="http://schemas.microsoft.com/office/powerpoint/2010/main" val="4059850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FEA8-AE2A-A4D6-23AA-E3237274C0D1}"/>
              </a:ext>
            </a:extLst>
          </p:cNvPr>
          <p:cNvSpPr>
            <a:spLocks noGrp="1"/>
          </p:cNvSpPr>
          <p:nvPr>
            <p:ph type="ctrTitle"/>
          </p:nvPr>
        </p:nvSpPr>
        <p:spPr>
          <a:xfrm>
            <a:off x="1524000" y="403272"/>
            <a:ext cx="9144000" cy="697559"/>
          </a:xfrm>
        </p:spPr>
        <p:txBody>
          <a:bodyPr>
            <a:normAutofit fontScale="90000"/>
          </a:bodyPr>
          <a:lstStyle/>
          <a:p>
            <a:r>
              <a:rPr lang="en-US" dirty="0"/>
              <a:t>Data Refresh in Power BI</a:t>
            </a:r>
            <a:endParaRPr lang="en-IN" dirty="0"/>
          </a:p>
        </p:txBody>
      </p:sp>
      <p:sp>
        <p:nvSpPr>
          <p:cNvPr id="3" name="Subtitle 2">
            <a:extLst>
              <a:ext uri="{FF2B5EF4-FFF2-40B4-BE49-F238E27FC236}">
                <a16:creationId xmlns:a16="http://schemas.microsoft.com/office/drawing/2014/main" id="{9D7AD254-8ED2-7429-25E3-473555207FE3}"/>
              </a:ext>
            </a:extLst>
          </p:cNvPr>
          <p:cNvSpPr>
            <a:spLocks noGrp="1"/>
          </p:cNvSpPr>
          <p:nvPr>
            <p:ph type="subTitle" idx="1"/>
          </p:nvPr>
        </p:nvSpPr>
        <p:spPr>
          <a:xfrm>
            <a:off x="612559" y="1393794"/>
            <a:ext cx="11176987" cy="4980373"/>
          </a:xfrm>
        </p:spPr>
        <p:txBody>
          <a:bodyPr>
            <a:normAutofit/>
          </a:bodyPr>
          <a:lstStyle/>
          <a:p>
            <a:pPr algn="l"/>
            <a:r>
              <a:rPr lang="en-US" sz="3200" b="1" i="0" dirty="0">
                <a:solidFill>
                  <a:srgbClr val="161616"/>
                </a:solidFill>
                <a:effectLst/>
                <a:latin typeface="Segoe UI" panose="020B0502040204020203" pitchFamily="34" charset="0"/>
              </a:rPr>
              <a:t>Use a Power BI gateway to connect to on-premises data sources</a:t>
            </a:r>
          </a:p>
          <a:p>
            <a:pPr marL="457200" indent="-457200" algn="l">
              <a:buFont typeface="Arial" panose="020B0604020202020204" pitchFamily="34" charset="0"/>
              <a:buChar char="•"/>
            </a:pPr>
            <a:r>
              <a:rPr lang="en-US" sz="3200" b="0" i="0" dirty="0">
                <a:solidFill>
                  <a:srgbClr val="161616"/>
                </a:solidFill>
                <a:effectLst/>
                <a:latin typeface="Segoe UI" panose="020B0502040204020203" pitchFamily="34" charset="0"/>
              </a:rPr>
              <a:t>Gateway software acts like a bridge; it allows organizations to retain databases and other data sources on their on-premises networks and access that on-premises data in cloud services, such as Power BI and Microsoft Azure Analysis Services.</a:t>
            </a:r>
          </a:p>
          <a:p>
            <a:pPr marL="457200" indent="-457200" algn="l">
              <a:buFont typeface="Arial" panose="020B0604020202020204" pitchFamily="34" charset="0"/>
              <a:buChar char="•"/>
            </a:pPr>
            <a:r>
              <a:rPr lang="en-US" sz="3200" b="0" i="0" dirty="0">
                <a:solidFill>
                  <a:srgbClr val="161616"/>
                </a:solidFill>
                <a:effectLst/>
                <a:latin typeface="Segoe UI" panose="020B0502040204020203" pitchFamily="34" charset="0"/>
              </a:rPr>
              <a:t>A gateway facilitates quick, behind-the-scenes communication that flows from a user in the cloud to your on-premises data source and then back again to the cloud</a:t>
            </a:r>
          </a:p>
        </p:txBody>
      </p:sp>
    </p:spTree>
    <p:extLst>
      <p:ext uri="{BB962C8B-B14F-4D97-AF65-F5344CB8AC3E}">
        <p14:creationId xmlns:p14="http://schemas.microsoft.com/office/powerpoint/2010/main" val="307205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FEA8-AE2A-A4D6-23AA-E3237274C0D1}"/>
              </a:ext>
            </a:extLst>
          </p:cNvPr>
          <p:cNvSpPr>
            <a:spLocks noGrp="1"/>
          </p:cNvSpPr>
          <p:nvPr>
            <p:ph type="ctrTitle"/>
          </p:nvPr>
        </p:nvSpPr>
        <p:spPr>
          <a:xfrm>
            <a:off x="1524000" y="403272"/>
            <a:ext cx="9144000" cy="697559"/>
          </a:xfrm>
        </p:spPr>
        <p:txBody>
          <a:bodyPr>
            <a:normAutofit fontScale="90000"/>
          </a:bodyPr>
          <a:lstStyle/>
          <a:p>
            <a:r>
              <a:rPr lang="en-US" dirty="0"/>
              <a:t>Data Refresh in Power BI</a:t>
            </a:r>
            <a:endParaRPr lang="en-IN" dirty="0"/>
          </a:p>
        </p:txBody>
      </p:sp>
      <p:pic>
        <p:nvPicPr>
          <p:cNvPr id="2050" name="Picture 2">
            <a:extLst>
              <a:ext uri="{FF2B5EF4-FFF2-40B4-BE49-F238E27FC236}">
                <a16:creationId xmlns:a16="http://schemas.microsoft.com/office/drawing/2014/main" id="{3D5DA7DC-20C9-D3D0-BB9B-0A2BE2056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75" y="1233996"/>
            <a:ext cx="6953250" cy="5029200"/>
          </a:xfrm>
          <a:prstGeom prst="rect">
            <a:avLst/>
          </a:prstGeom>
          <a:solidFill>
            <a:schemeClr val="tx1"/>
          </a:solidFill>
        </p:spPr>
      </p:pic>
    </p:spTree>
    <p:extLst>
      <p:ext uri="{BB962C8B-B14F-4D97-AF65-F5344CB8AC3E}">
        <p14:creationId xmlns:p14="http://schemas.microsoft.com/office/powerpoint/2010/main" val="2790723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FEA8-AE2A-A4D6-23AA-E3237274C0D1}"/>
              </a:ext>
            </a:extLst>
          </p:cNvPr>
          <p:cNvSpPr>
            <a:spLocks noGrp="1"/>
          </p:cNvSpPr>
          <p:nvPr>
            <p:ph type="ctrTitle"/>
          </p:nvPr>
        </p:nvSpPr>
        <p:spPr>
          <a:xfrm>
            <a:off x="1524000" y="403272"/>
            <a:ext cx="9144000" cy="697559"/>
          </a:xfrm>
        </p:spPr>
        <p:txBody>
          <a:bodyPr>
            <a:normAutofit fontScale="90000"/>
          </a:bodyPr>
          <a:lstStyle/>
          <a:p>
            <a:r>
              <a:rPr lang="en-US" dirty="0"/>
              <a:t>Data Refresh in Power BI</a:t>
            </a:r>
            <a:endParaRPr lang="en-IN" dirty="0"/>
          </a:p>
        </p:txBody>
      </p:sp>
      <p:sp>
        <p:nvSpPr>
          <p:cNvPr id="4" name="TextBox 3">
            <a:extLst>
              <a:ext uri="{FF2B5EF4-FFF2-40B4-BE49-F238E27FC236}">
                <a16:creationId xmlns:a16="http://schemas.microsoft.com/office/drawing/2014/main" id="{DDDD60A6-676C-0B13-7B7E-3B9B893DBAA5}"/>
              </a:ext>
            </a:extLst>
          </p:cNvPr>
          <p:cNvSpPr txBox="1"/>
          <p:nvPr/>
        </p:nvSpPr>
        <p:spPr>
          <a:xfrm>
            <a:off x="577049" y="1305017"/>
            <a:ext cx="11425561" cy="3908762"/>
          </a:xfrm>
          <a:prstGeom prst="rect">
            <a:avLst/>
          </a:prstGeom>
          <a:noFill/>
        </p:spPr>
        <p:txBody>
          <a:bodyPr wrap="square">
            <a:spAutoFit/>
          </a:bodyPr>
          <a:lstStyle/>
          <a:p>
            <a:pPr algn="l"/>
            <a:r>
              <a:rPr lang="en-US" sz="2400" b="0" i="0" dirty="0">
                <a:solidFill>
                  <a:srgbClr val="161616"/>
                </a:solidFill>
                <a:effectLst/>
                <a:latin typeface="Segoe UI" panose="020B0502040204020203" pitchFamily="34" charset="0"/>
              </a:rPr>
              <a:t>Two types of on-premises gateways are:</a:t>
            </a:r>
          </a:p>
          <a:p>
            <a:pPr algn="l">
              <a:buFont typeface="Arial" panose="020B0604020202020204" pitchFamily="34" charset="0"/>
              <a:buChar char="•"/>
            </a:pPr>
            <a:r>
              <a:rPr lang="en-US" sz="2800" b="1" i="0" dirty="0">
                <a:solidFill>
                  <a:srgbClr val="161616"/>
                </a:solidFill>
                <a:effectLst/>
                <a:latin typeface="Segoe UI" panose="020B0502040204020203" pitchFamily="34" charset="0"/>
              </a:rPr>
              <a:t>Organization mode</a:t>
            </a:r>
            <a:r>
              <a:rPr lang="en-US" sz="2800" b="0" i="0" dirty="0">
                <a:solidFill>
                  <a:srgbClr val="161616"/>
                </a:solidFill>
                <a:effectLst/>
                <a:latin typeface="Segoe UI" panose="020B0502040204020203" pitchFamily="34" charset="0"/>
              </a:rPr>
              <a:t> - Allows multiple users to connect to multiple on-premises data sources and is suitable for complex scenarios.</a:t>
            </a:r>
          </a:p>
          <a:p>
            <a:pPr algn="l">
              <a:buFont typeface="Arial" panose="020B0604020202020204" pitchFamily="34" charset="0"/>
              <a:buChar char="•"/>
            </a:pPr>
            <a:r>
              <a:rPr lang="en-US" sz="2800" b="1" i="0" dirty="0">
                <a:solidFill>
                  <a:srgbClr val="161616"/>
                </a:solidFill>
                <a:effectLst/>
                <a:latin typeface="Segoe UI" panose="020B0502040204020203" pitchFamily="34" charset="0"/>
              </a:rPr>
              <a:t>Personal mode</a:t>
            </a:r>
            <a:r>
              <a:rPr lang="en-US" sz="2800" b="0" i="0" dirty="0">
                <a:solidFill>
                  <a:srgbClr val="161616"/>
                </a:solidFill>
                <a:effectLst/>
                <a:latin typeface="Segoe UI" panose="020B0502040204020203" pitchFamily="34" charset="0"/>
              </a:rPr>
              <a:t> - Allows one user to connect to data sources. This type of gateway can be used only with Power BI and it can't be shared with other users, so it is suitable in situations where you're the only one in your organization who creates reports. You will install the gateway on your local computer, which needs to stay online for the gateway to work.</a:t>
            </a:r>
          </a:p>
        </p:txBody>
      </p:sp>
      <p:sp>
        <p:nvSpPr>
          <p:cNvPr id="6" name="TextBox 5">
            <a:extLst>
              <a:ext uri="{FF2B5EF4-FFF2-40B4-BE49-F238E27FC236}">
                <a16:creationId xmlns:a16="http://schemas.microsoft.com/office/drawing/2014/main" id="{7396B018-0814-C7DD-2AD0-C1B219DE39AA}"/>
              </a:ext>
            </a:extLst>
          </p:cNvPr>
          <p:cNvSpPr txBox="1"/>
          <p:nvPr/>
        </p:nvSpPr>
        <p:spPr>
          <a:xfrm>
            <a:off x="577049" y="5757169"/>
            <a:ext cx="10999433" cy="369332"/>
          </a:xfrm>
          <a:prstGeom prst="rect">
            <a:avLst/>
          </a:prstGeom>
          <a:noFill/>
        </p:spPr>
        <p:txBody>
          <a:bodyPr wrap="square">
            <a:spAutoFit/>
          </a:bodyPr>
          <a:lstStyle/>
          <a:p>
            <a:r>
              <a:rPr lang="en-IN" dirty="0"/>
              <a:t>https://learn.microsoft.com/en-us/training/modules/manage-datasets-power-bi/5-dataset-refresh</a:t>
            </a:r>
          </a:p>
        </p:txBody>
      </p:sp>
    </p:spTree>
    <p:extLst>
      <p:ext uri="{BB962C8B-B14F-4D97-AF65-F5344CB8AC3E}">
        <p14:creationId xmlns:p14="http://schemas.microsoft.com/office/powerpoint/2010/main" val="322805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419</Words>
  <Application>Microsoft Office PowerPoint</Application>
  <PresentationFormat>Widescreen</PresentationFormat>
  <Paragraphs>18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Segoe UI</vt:lpstr>
      <vt:lpstr>Office Theme</vt:lpstr>
      <vt:lpstr>Data Refresh in Power BI</vt:lpstr>
      <vt:lpstr>Data Refresh in Power BI</vt:lpstr>
      <vt:lpstr>Data Refresh in Power BI</vt:lpstr>
      <vt:lpstr>Data Refresh in Power BI</vt:lpstr>
      <vt:lpstr>Data Refresh in Power BI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Refresh in Power BI</dc:title>
  <dc:creator>ANOOP HA</dc:creator>
  <cp:lastModifiedBy>ANOOP HA</cp:lastModifiedBy>
  <cp:revision>2</cp:revision>
  <dcterms:created xsi:type="dcterms:W3CDTF">2023-09-25T13:09:00Z</dcterms:created>
  <dcterms:modified xsi:type="dcterms:W3CDTF">2023-09-25T17:17:08Z</dcterms:modified>
</cp:coreProperties>
</file>
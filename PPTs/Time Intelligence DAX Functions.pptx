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183F05-95BA-DB56-AF36-106C7A36F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431102D-958F-D853-F942-9B52138B3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4A17B4-CA24-B968-FDD1-897C7342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EB55FD-C711-89EC-A055-63A35983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0A9C84D-965F-8F2A-512E-AF9DC82A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1509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6B6544-177A-BE0C-3A0F-33AF56EE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D84422-D105-ED6A-96BA-9409E006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468D85-CAF1-B9EF-332B-B78AD9AF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4DA516-7F03-3CD8-F9F9-197F70A9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9610D93-8836-A410-4778-152C4539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5003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940545-0844-DA30-42FD-D7AC674F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73E7076-30F7-7993-322F-8443CDBA2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7D5ADD0-F8A4-0070-06A0-1F321ED7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5389FF-A66C-945D-B9B4-12E819C1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54B7E35-CA10-E35F-F9CD-E7B7100F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3364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D4A5EC-D5DA-10BB-4341-6F3B3FEF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BD15F0-12A3-CBA2-2C9C-42FCC6F53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2A75997-F0E4-C2DF-A5A7-8D9A476E1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5AA74FF-7C7B-A530-D7B3-97D44610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A2FA550-57F2-44BC-475F-1DF9DFAD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4800858-0B62-7375-298B-BD2DDFAD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6850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E7EE41-22E7-2096-E1D1-058A8D89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2259783-DDCF-11E0-04FE-7B7006B69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D49CC28-ED84-4223-2C61-08D80693F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C850094-AA14-0FB2-5CE5-8D5B35F4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898E1232-8865-60DF-006E-E69BBC5EC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8AD4AFE-8920-3083-BE0E-F3AA957D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3C974BB5-55E3-862D-2EE0-3224CFCB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623E0B9-4029-0615-9ED8-43001202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9457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51ECFB-0FD5-1758-A654-B6816F51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5AA0FAE-BFB0-66B9-205C-0BD471B3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67ACB3B-BAE1-6B3A-72E9-709F34DF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DF50B65-71AC-1612-F068-6D5CC1E9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6684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4ADE235-E1CB-630D-1894-F7CFF635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A4412EF-4EF9-93A1-BC0A-06F6F971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6E100C9-E301-FA1A-CA5C-F36D53C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0914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B5F940-3E92-0B44-B9BD-6474595D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E59316-DA86-D685-C950-B332DF14D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ADC2CAF-1659-C420-7B76-AC495AAEE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3048034-A67D-8621-C64E-583BC523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1FA0A99-C298-587E-7148-F05594FC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5C10A67-1F22-1960-61F0-FA7A74E0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7107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E2B44D-5632-89BD-C95F-95333D34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1B3C423-F7D5-A202-8BC2-336BD2A10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E6E000-6DCF-CD8C-7812-3D7AC9E93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6094BE0-435D-51C4-F128-1D86F08B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41AE3A3-C750-3455-2F1A-E91BD3EF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874D50F-7FC7-CE5C-E76A-F9120061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0451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DD219E-4B31-96EA-D4DC-98C7C026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17A9E72-B190-4DCF-81F6-7A76AC0E7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96617BF-977F-5273-E458-164055F6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712E1E8-6FD8-94FC-5ACB-74A0DF27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00060F4-B871-B87C-A64A-0DD029F7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0317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62412E3-B9FE-61B2-C87E-0082B45BD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F94CC25-F77E-E4DD-A822-30711AFD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1FECAA-2C7F-C568-B779-B3D19BA0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C5476BE-B011-03D2-49DF-BBE31213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4586D29-E7E1-7CEA-01A1-F3B8E871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7142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678D82C-B10F-55FF-B7C2-FFF529DB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60EC657-D86F-2D74-920A-9D731F54D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98A4BC6-BDB3-5889-9300-F68DAA802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17293-34EF-4E0F-BC50-B83B8414924A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FA9766-E8AB-1172-EF07-854873606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C1CFA67-EDDA-92EE-F375-6EEAB9B7D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2077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previousmonth-function-dax" TargetMode="External"/><Relationship Id="rId2" Type="http://schemas.openxmlformats.org/officeDocument/2006/relationships/hyperlink" Target="https://learn.microsoft.com/en-us/dax/previousday-function-dax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en-us/dax/previousyear-function-dax" TargetMode="External"/><Relationship Id="rId4" Type="http://schemas.openxmlformats.org/officeDocument/2006/relationships/hyperlink" Target="https://learn.microsoft.com/en-us/dax/previousquarter-function-da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previousday-function-dax" TargetMode="External"/><Relationship Id="rId2" Type="http://schemas.openxmlformats.org/officeDocument/2006/relationships/hyperlink" Target="https://learn.microsoft.com/en-us/dax/nextday-function-da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dax/nextyear-function-dax" TargetMode="External"/><Relationship Id="rId5" Type="http://schemas.openxmlformats.org/officeDocument/2006/relationships/hyperlink" Target="https://learn.microsoft.com/en-us/dax/nextquarter-function-dax" TargetMode="External"/><Relationship Id="rId4" Type="http://schemas.openxmlformats.org/officeDocument/2006/relationships/hyperlink" Target="https://learn.microsoft.com/en-us/dax/nextmonth-function-da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datesbetween-function-dax" TargetMode="External"/><Relationship Id="rId2" Type="http://schemas.openxmlformats.org/officeDocument/2006/relationships/hyperlink" Target="https://learn.microsoft.com/en-us/dax/dateadd-function-dax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en-us/dax/datesinperiod-function-da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closingbalancequarter-function-dax" TargetMode="External"/><Relationship Id="rId2" Type="http://schemas.openxmlformats.org/officeDocument/2006/relationships/hyperlink" Target="https://learn.microsoft.com/en-us/dax/closingbalancemonth-function-dax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en-us/dax/closingbalanceyear-function-dax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dax/totalytd-function-dax" TargetMode="External"/><Relationship Id="rId3" Type="http://schemas.openxmlformats.org/officeDocument/2006/relationships/hyperlink" Target="https://learn.microsoft.com/en-us/dax/closingbalancequarter-function-dax" TargetMode="External"/><Relationship Id="rId7" Type="http://schemas.openxmlformats.org/officeDocument/2006/relationships/hyperlink" Target="https://learn.microsoft.com/en-us/dax/totalqtd-function-dax" TargetMode="External"/><Relationship Id="rId2" Type="http://schemas.openxmlformats.org/officeDocument/2006/relationships/hyperlink" Target="https://learn.microsoft.com/en-us/dax/startofmonth-function-da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dax/totalmtd-function-dax" TargetMode="External"/><Relationship Id="rId5" Type="http://schemas.openxmlformats.org/officeDocument/2006/relationships/hyperlink" Target="https://learn.microsoft.com/en-us/dax/startofyear-function-dax" TargetMode="External"/><Relationship Id="rId4" Type="http://schemas.openxmlformats.org/officeDocument/2006/relationships/hyperlink" Target="https://learn.microsoft.com/en-us/dax/startofquarter-function-dax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dax/lastdate-function-dax" TargetMode="External"/><Relationship Id="rId3" Type="http://schemas.openxmlformats.org/officeDocument/2006/relationships/hyperlink" Target="https://learn.microsoft.com/en-us/dax/totalmtd-function-dax" TargetMode="External"/><Relationship Id="rId7" Type="http://schemas.openxmlformats.org/officeDocument/2006/relationships/hyperlink" Target="https://learn.microsoft.com/en-us/dax/firstnonblank-function-dax" TargetMode="External"/><Relationship Id="rId2" Type="http://schemas.openxmlformats.org/officeDocument/2006/relationships/hyperlink" Target="https://learn.microsoft.com/en-us/dax/endofmonth-function-da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dax/firstdate-function-dax" TargetMode="External"/><Relationship Id="rId5" Type="http://schemas.openxmlformats.org/officeDocument/2006/relationships/hyperlink" Target="https://learn.microsoft.com/en-us/dax/endofyear-function-dax" TargetMode="External"/><Relationship Id="rId4" Type="http://schemas.openxmlformats.org/officeDocument/2006/relationships/hyperlink" Target="https://learn.microsoft.com/en-us/dax/endofquarter-function-dax" TargetMode="External"/><Relationship Id="rId9" Type="http://schemas.openxmlformats.org/officeDocument/2006/relationships/hyperlink" Target="https://learn.microsoft.com/en-us/dax/lastnonblank-function-dax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A86D70-28D0-03CC-249F-56754170A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917" y="625876"/>
            <a:ext cx="10386204" cy="47783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Time Intelligence </a:t>
            </a:r>
            <a:r>
              <a:rPr lang="en-US" dirty="0" smtClean="0"/>
              <a:t>DAX </a:t>
            </a:r>
            <a:r>
              <a:rPr lang="en-US" dirty="0"/>
              <a:t>Expressions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0FB14C4-5FC1-B885-D626-F9B680DB9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249" y="1600200"/>
            <a:ext cx="11505461" cy="4631924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Manipulate </a:t>
            </a:r>
            <a:r>
              <a:rPr lang="en-US" sz="2800" dirty="0" smtClean="0"/>
              <a:t>data using time periods, including </a:t>
            </a:r>
            <a:r>
              <a:rPr lang="en-US" sz="2800" b="1" dirty="0" smtClean="0"/>
              <a:t>days, months, quarters, and years</a:t>
            </a:r>
            <a:r>
              <a:rPr lang="en-US" sz="2800" dirty="0" smtClean="0"/>
              <a:t>, and then build and </a:t>
            </a:r>
            <a:r>
              <a:rPr lang="en-US" sz="2800" b="1" dirty="0" smtClean="0"/>
              <a:t>compare calculations </a:t>
            </a:r>
            <a:r>
              <a:rPr lang="en-US" sz="2800" dirty="0" smtClean="0"/>
              <a:t>over those periods. </a:t>
            </a:r>
            <a:endParaRPr lang="en-US" sz="2800" dirty="0" smtClean="0"/>
          </a:p>
          <a:p>
            <a:pPr algn="just"/>
            <a:r>
              <a:rPr lang="en-US" sz="2800" dirty="0" smtClean="0"/>
              <a:t>Before </a:t>
            </a:r>
            <a:r>
              <a:rPr lang="en-US" sz="2800" dirty="0" smtClean="0"/>
              <a:t>using any time-intelligence functions, </a:t>
            </a:r>
            <a:r>
              <a:rPr lang="en-US" sz="2800" b="1" dirty="0" smtClean="0"/>
              <a:t>make sure to mark one of the tables containing date column as Date Table</a:t>
            </a:r>
            <a:endParaRPr lang="en-IN" sz="2800" b="1" dirty="0"/>
          </a:p>
        </p:txBody>
      </p:sp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1871" y="900820"/>
          <a:ext cx="10619118" cy="3809203"/>
        </p:xfrm>
        <a:graphic>
          <a:graphicData uri="http://schemas.openxmlformats.org/drawingml/2006/table">
            <a:tbl>
              <a:tblPr/>
              <a:tblGrid>
                <a:gridCol w="4295955"/>
                <a:gridCol w="6323163"/>
              </a:tblGrid>
              <a:tr h="95385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sng" dirty="0" smtClean="0">
                          <a:hlinkClick r:id="rId2"/>
                        </a:rPr>
                        <a:t>PREVIOUSDAY</a:t>
                      </a:r>
                      <a:endParaRPr lang="en-US" sz="1800" u="sng" dirty="0" smtClean="0"/>
                    </a:p>
                    <a:p>
                      <a:pPr algn="l" fontAlgn="t"/>
                      <a:r>
                        <a:rPr lang="en-US" sz="1800" dirty="0" smtClean="0"/>
                        <a:t>PREVIOUSDAY(&lt;dates&gt;)</a:t>
                      </a:r>
                      <a:endParaRPr lang="en-US" sz="1800" dirty="0"/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a table that </a:t>
                      </a:r>
                      <a:r>
                        <a:rPr lang="en-US" sz="1800" b="1" dirty="0"/>
                        <a:t>contains a column of all dates representing the day </a:t>
                      </a:r>
                      <a:r>
                        <a:rPr lang="en-US" sz="1800" dirty="0"/>
                        <a:t>that is previous to the first date in the dates column, in the current context.</a:t>
                      </a:r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890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 smtClean="0">
                          <a:hlinkClick r:id="rId3"/>
                        </a:rPr>
                        <a:t>PREVIOUSMONTH</a:t>
                      </a:r>
                      <a:endParaRPr lang="en-US" sz="1800" u="none" strike="noStrike" dirty="0" smtClean="0"/>
                    </a:p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PREVIOUSMONTH(&lt;dates&gt;)</a:t>
                      </a:r>
                    </a:p>
                    <a:p>
                      <a:pPr algn="l" fontAlgn="t"/>
                      <a:endParaRPr lang="en-US" sz="1800" dirty="0"/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a table that </a:t>
                      </a:r>
                      <a:r>
                        <a:rPr lang="en-US" sz="1800" b="1" dirty="0"/>
                        <a:t>contains a column of all dates from the previous month</a:t>
                      </a:r>
                      <a:r>
                        <a:rPr lang="en-US" sz="1800" dirty="0"/>
                        <a:t>, based on the first date in the dates column, in the current context.</a:t>
                      </a:r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302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 smtClean="0">
                          <a:hlinkClick r:id="rId4"/>
                        </a:rPr>
                        <a:t>PREVIOUSQUARTER</a:t>
                      </a:r>
                      <a:endParaRPr lang="en-US" sz="1800" u="none" strike="noStrike" dirty="0" smtClean="0"/>
                    </a:p>
                    <a:p>
                      <a:pPr algn="l" fontAlgn="t"/>
                      <a:r>
                        <a:rPr lang="en-US" sz="1800" dirty="0" smtClean="0"/>
                        <a:t>PREVIOUSQUARTER(&lt;dates&gt;)</a:t>
                      </a:r>
                      <a:endParaRPr lang="en-US" sz="1800" dirty="0"/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a table that </a:t>
                      </a:r>
                      <a:r>
                        <a:rPr lang="en-US" sz="1800" b="1" dirty="0"/>
                        <a:t>contains a column of all dates from the previous quarter, </a:t>
                      </a:r>
                      <a:r>
                        <a:rPr lang="en-US" sz="1800" dirty="0"/>
                        <a:t>based on the first date in the dates column, in the current context.</a:t>
                      </a:r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341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 smtClean="0">
                          <a:hlinkClick r:id="rId5"/>
                        </a:rPr>
                        <a:t>SAMEPERIODLASTYEAR(&lt;dates&gt;)</a:t>
                      </a:r>
                    </a:p>
                    <a:p>
                      <a:pPr algn="l" fontAlgn="t"/>
                      <a:r>
                        <a:rPr lang="en-US" sz="1800" u="none" strike="noStrike" dirty="0" smtClean="0">
                          <a:hlinkClick r:id="rId5"/>
                        </a:rPr>
                        <a:t>PREVIOUSYEAR</a:t>
                      </a:r>
                      <a:endParaRPr lang="en-US" sz="1800" u="none" strike="noStrike" dirty="0" smtClean="0"/>
                    </a:p>
                    <a:p>
                      <a:pPr algn="l" fontAlgn="t"/>
                      <a:r>
                        <a:rPr lang="en-US" sz="1800" dirty="0" smtClean="0"/>
                        <a:t>PREVIOUSYEAR(&lt;dates&gt;[,&lt;</a:t>
                      </a:r>
                      <a:r>
                        <a:rPr lang="en-US" sz="1800" dirty="0" err="1" smtClean="0"/>
                        <a:t>year_end_date</a:t>
                      </a:r>
                      <a:r>
                        <a:rPr lang="en-US" sz="1800" dirty="0" smtClean="0"/>
                        <a:t>&gt;])</a:t>
                      </a:r>
                      <a:endParaRPr lang="en-US" sz="1800" dirty="0"/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a table that </a:t>
                      </a:r>
                      <a:r>
                        <a:rPr lang="en-US" sz="1800" b="1" dirty="0"/>
                        <a:t>contains a column of all dates from the previous year</a:t>
                      </a:r>
                      <a:r>
                        <a:rPr lang="en-US" sz="1800" dirty="0"/>
                        <a:t>, given the last date in the dates column, in the current context.</a:t>
                      </a:r>
                    </a:p>
                  </a:txBody>
                  <a:tcPr marL="71298" marR="71298" marT="35649" marB="356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7939" y="5116325"/>
          <a:ext cx="4409450" cy="822960"/>
        </p:xfrm>
        <a:graphic>
          <a:graphicData uri="http://schemas.openxmlformats.org/drawingml/2006/table">
            <a:tbl>
              <a:tblPr/>
              <a:tblGrid>
                <a:gridCol w="1303940"/>
                <a:gridCol w="3105510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Term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/>
                        <a:t>Dates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/>
                        <a:t>A column containing dates.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572664" y="4976813"/>
            <a:ext cx="62541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dates</a:t>
            </a:r>
            <a:r>
              <a:rPr lang="en-US" dirty="0" smtClean="0"/>
              <a:t> argument can be any of the following: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 reference to a date/time column.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 table expression that returns a single column of date/time values.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7939" y="5116325"/>
          <a:ext cx="4409450" cy="822960"/>
        </p:xfrm>
        <a:graphic>
          <a:graphicData uri="http://schemas.openxmlformats.org/drawingml/2006/table">
            <a:tbl>
              <a:tblPr/>
              <a:tblGrid>
                <a:gridCol w="1303940"/>
                <a:gridCol w="3105510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Term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/>
                        <a:t>Dates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/>
                        <a:t>A column containing dates.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572664" y="4976813"/>
            <a:ext cx="62541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dates</a:t>
            </a:r>
            <a:r>
              <a:rPr lang="en-US" dirty="0" smtClean="0"/>
              <a:t> argument can be any of the following: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 reference to a date/time column.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 table expression that returns a single column of date/time values.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719666"/>
          <a:ext cx="10317192" cy="3929972"/>
        </p:xfrm>
        <a:graphic>
          <a:graphicData uri="http://schemas.openxmlformats.org/drawingml/2006/table">
            <a:tbl>
              <a:tblPr/>
              <a:tblGrid>
                <a:gridCol w="4123426"/>
                <a:gridCol w="6193766"/>
              </a:tblGrid>
              <a:tr h="10543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sng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/>
                        </a:rPr>
                        <a:t>NEXTDAY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NEXTDAY(&lt;dates&gt;)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table that contains a column of all dates from the next day, based on the first date specified in the dates column in the current context.</a:t>
                      </a: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060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sng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NEXTMONTH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NEXTMONTH(&lt;dates&gt;) 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table that contains a column of all dates from the next month, based on the first date in the dates column in the current context.</a:t>
                      </a: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43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sng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/>
                        </a:rPr>
                        <a:t>NEXTQUARTER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NEXTQUARTER(&lt;dates&gt;) 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table that contains a column of all dates in the next quarter, based on the first date specified in the dates column, in the current context.</a:t>
                      </a: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060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sng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/>
                        </a:rPr>
                        <a:t>NEXTYEAR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NEXTYEAR(&lt;dates&gt;[,&lt;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year_end_date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&gt;]) </a:t>
                      </a:r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endParaRPr lang="en-US" sz="180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 table that contains a column of all dates in the next year, based on the first date in the dates column, in the current context.</a:t>
                      </a:r>
                    </a:p>
                  </a:txBody>
                  <a:tcPr marL="66081" marR="66081" marT="33041" marB="330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7310" y="822959"/>
          <a:ext cx="9980764" cy="3429864"/>
        </p:xfrm>
        <a:graphic>
          <a:graphicData uri="http://schemas.openxmlformats.org/drawingml/2006/table">
            <a:tbl>
              <a:tblPr/>
              <a:tblGrid>
                <a:gridCol w="5581294"/>
                <a:gridCol w="4399470"/>
              </a:tblGrid>
              <a:tr h="1219507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smtClean="0">
                          <a:hlinkClick r:id="rId2"/>
                        </a:rPr>
                        <a:t>DATEADD</a:t>
                      </a:r>
                      <a:endParaRPr lang="en-US" u="none" strike="noStrike" dirty="0" smtClean="0"/>
                    </a:p>
                    <a:p>
                      <a:pPr algn="l" fontAlgn="t"/>
                      <a:r>
                        <a:rPr lang="en-US" dirty="0" smtClean="0"/>
                        <a:t>DATEADD(&lt;dates&gt;,&lt;</a:t>
                      </a:r>
                      <a:r>
                        <a:rPr lang="en-US" dirty="0" err="1" smtClean="0"/>
                        <a:t>number_of_intervals</a:t>
                      </a:r>
                      <a:r>
                        <a:rPr lang="en-US" dirty="0" smtClean="0"/>
                        <a:t>&gt;,&lt;interval&gt;)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Returns a table that contains a column of dates, shifted either forward or backward in time by the specified number of intervals from the dates in the current context.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085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smtClean="0">
                          <a:hlinkClick r:id="rId3"/>
                        </a:rPr>
                        <a:t>DATESBETWEEN</a:t>
                      </a:r>
                      <a:endParaRPr lang="en-US" u="none" strike="noStrike" dirty="0" smtClean="0"/>
                    </a:p>
                    <a:p>
                      <a:pPr algn="l" fontAlgn="t"/>
                      <a:r>
                        <a:rPr lang="en-US" u="none" strike="noStrike" dirty="0" smtClean="0"/>
                        <a:t>DATESBETWEEN(&lt;Dates&gt;, &lt;</a:t>
                      </a:r>
                      <a:r>
                        <a:rPr lang="en-US" u="none" strike="noStrike" dirty="0" err="1" smtClean="0"/>
                        <a:t>StartDate</a:t>
                      </a:r>
                      <a:r>
                        <a:rPr lang="en-US" u="none" strike="noStrike" dirty="0" smtClean="0"/>
                        <a:t>&gt;, &lt;</a:t>
                      </a:r>
                      <a:r>
                        <a:rPr lang="en-US" u="none" strike="noStrike" dirty="0" err="1" smtClean="0"/>
                        <a:t>EndDate</a:t>
                      </a:r>
                      <a:r>
                        <a:rPr lang="en-US" u="none" strike="noStrike" dirty="0" smtClean="0"/>
                        <a:t>&gt;)</a:t>
                      </a:r>
                    </a:p>
                    <a:p>
                      <a:pPr algn="l" fontAlgn="t"/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Returns a table that contains a column of dates that begins with a specified start date and continues until a specified end date.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9507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smtClean="0">
                          <a:hlinkClick r:id="rId4"/>
                        </a:rPr>
                        <a:t>DATESINPERIOD</a:t>
                      </a:r>
                      <a:endParaRPr lang="en-US" u="none" strike="noStrike" dirty="0" smtClean="0"/>
                    </a:p>
                    <a:p>
                      <a:pPr algn="l" fontAlgn="t"/>
                      <a:r>
                        <a:rPr lang="en-US" dirty="0" smtClean="0"/>
                        <a:t>DATESINPERIOD(&lt;dates&gt;, &lt;</a:t>
                      </a:r>
                      <a:r>
                        <a:rPr lang="en-US" dirty="0" err="1" smtClean="0"/>
                        <a:t>start_date</a:t>
                      </a:r>
                      <a:r>
                        <a:rPr lang="en-US" dirty="0" smtClean="0"/>
                        <a:t>&gt;, &lt;</a:t>
                      </a:r>
                      <a:r>
                        <a:rPr lang="en-US" dirty="0" err="1" smtClean="0"/>
                        <a:t>number_of_intervals</a:t>
                      </a:r>
                      <a:r>
                        <a:rPr lang="en-US" dirty="0" smtClean="0"/>
                        <a:t>&gt;, &lt;interval&gt;)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Returns a table that contains a column of dates that begins with a specified start date and continues for the specified number and type of date intervals.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7313" y="4673791"/>
          <a:ext cx="9998014" cy="914400"/>
        </p:xfrm>
        <a:graphic>
          <a:graphicData uri="http://schemas.openxmlformats.org/drawingml/2006/table">
            <a:tbl>
              <a:tblPr/>
              <a:tblGrid>
                <a:gridCol w="5598544"/>
                <a:gridCol w="4399470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/>
                        <a:t>Interval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The interval by which to shift the dates. The value for interval can be one of the following: DAY, MONTH, QUARTER, and YEAR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5960" y="5618383"/>
          <a:ext cx="10016620" cy="365760"/>
        </p:xfrm>
        <a:graphic>
          <a:graphicData uri="http://schemas.openxmlformats.org/drawingml/2006/table">
            <a:tbl>
              <a:tblPr/>
              <a:tblGrid>
                <a:gridCol w="5599897"/>
                <a:gridCol w="4416723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dates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A date column.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5960" y="5618383"/>
          <a:ext cx="10206402" cy="365760"/>
        </p:xfrm>
        <a:graphic>
          <a:graphicData uri="http://schemas.openxmlformats.org/drawingml/2006/table">
            <a:tbl>
              <a:tblPr/>
              <a:tblGrid>
                <a:gridCol w="5021927"/>
                <a:gridCol w="5184475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dates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A date column.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5003" y="534837"/>
          <a:ext cx="10636371" cy="3209028"/>
        </p:xfrm>
        <a:graphic>
          <a:graphicData uri="http://schemas.openxmlformats.org/drawingml/2006/table">
            <a:tbl>
              <a:tblPr/>
              <a:tblGrid>
                <a:gridCol w="5943350"/>
                <a:gridCol w="4693021"/>
              </a:tblGrid>
              <a:tr h="1069676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smtClean="0">
                          <a:hlinkClick r:id="rId2"/>
                        </a:rPr>
                        <a:t>CLOSINGBALANCEMONTH</a:t>
                      </a:r>
                      <a:endParaRPr lang="en-US" u="none" strike="noStrike" dirty="0" smtClean="0"/>
                    </a:p>
                    <a:p>
                      <a:pPr algn="l" fontAlgn="t"/>
                      <a:r>
                        <a:rPr lang="en-US" dirty="0" smtClean="0"/>
                        <a:t>CLOSINGBALANCEMONTH(&lt;expression&gt;,&lt;dates&gt;[,&lt;filter&gt;])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Evaluates the expression at the last date of the month in the current context.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9676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smtClean="0">
                          <a:hlinkClick r:id="rId3"/>
                        </a:rPr>
                        <a:t>CLOSINGBALANCEQUARTER</a:t>
                      </a:r>
                      <a:endParaRPr lang="en-US" u="none" strike="noStrike" dirty="0" smtClean="0"/>
                    </a:p>
                    <a:p>
                      <a:pPr algn="l" fontAlgn="t"/>
                      <a:r>
                        <a:rPr lang="en-US" dirty="0" smtClean="0"/>
                        <a:t>CLOSINGBALANCEQUARTER(&lt;expression&gt;,&lt;dates&gt;[,&lt;filter&gt;])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Evaluates the expression at the last date of the quarter in the current context.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9676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smtClean="0">
                          <a:hlinkClick r:id="rId4"/>
                        </a:rPr>
                        <a:t>CLOSINGBALANCEYEAR</a:t>
                      </a:r>
                      <a:endParaRPr lang="en-US" u="none" strike="noStrike" dirty="0" smtClean="0"/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CLOSINGBALANCEYEAR(&lt;expression&gt;,&lt;dates&gt;[,&lt;filter&gt;][,&lt;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year_end_date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&gt;]) 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/>
                        <a:t>Evaluates </a:t>
                      </a:r>
                      <a:r>
                        <a:rPr lang="en-US" dirty="0"/>
                        <a:t>the expression at the last date of the year in the current context.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63213" y="5213803"/>
          <a:ext cx="10163270" cy="365760"/>
        </p:xfrm>
        <a:graphic>
          <a:graphicData uri="http://schemas.openxmlformats.org/drawingml/2006/table">
            <a:tbl>
              <a:tblPr/>
              <a:tblGrid>
                <a:gridCol w="4999684"/>
                <a:gridCol w="5163586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expression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An expression that returns a scalar value.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64567" y="4378767"/>
          <a:ext cx="10144664" cy="640080"/>
        </p:xfrm>
        <a:graphic>
          <a:graphicData uri="http://schemas.openxmlformats.org/drawingml/2006/table">
            <a:tbl>
              <a:tblPr/>
              <a:tblGrid>
                <a:gridCol w="5011947"/>
                <a:gridCol w="5132717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filter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(optional) An expression that specifies a filter to apply to the current context.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04181" y="3916392"/>
            <a:ext cx="7151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Same syntax applies for </a:t>
            </a:r>
            <a:r>
              <a:rPr lang="en-US" sz="2000" b="1" dirty="0" smtClean="0"/>
              <a:t>Opening Balance Year/Quarter/Month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1487" y="719665"/>
          <a:ext cx="10722634" cy="5591388"/>
        </p:xfrm>
        <a:graphic>
          <a:graphicData uri="http://schemas.openxmlformats.org/drawingml/2006/table">
            <a:tbl>
              <a:tblPr/>
              <a:tblGrid>
                <a:gridCol w="4054415"/>
                <a:gridCol w="6668219"/>
              </a:tblGrid>
              <a:tr h="93923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/>
                        </a:rPr>
                        <a:t>STARTOFMONTH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STARTOFMONTH(&lt;dates&gt;)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first date of the month in the current context for the specified column of dates.</a:t>
                      </a: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23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STARTOFQUARTER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STARTOFQUARTER</a:t>
                      </a:r>
                      <a:r>
                        <a:rPr lang="en-US" dirty="0" smtClean="0"/>
                        <a:t>(&lt;dates&gt;) 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first date of the quarter in the current context for the specified column of dates.</a:t>
                      </a: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23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/>
                        </a:rPr>
                        <a:t>STARTOFYEAR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STARTOFYEAR(&lt;dates&gt;)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first date of the year in the current context for the specified column of dates.</a:t>
                      </a: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23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/>
                        </a:rPr>
                        <a:t>TOTALMTD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TOTALMTD(&lt;expression&gt;,&lt;dates&gt;[,&lt;filter&gt;])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Evaluates the value of the expression for the month to date, in the current context.</a:t>
                      </a: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23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/>
                        </a:rPr>
                        <a:t>TOTALQTD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TOTALQTD(&lt;expression&gt;,&lt;dates&gt;[,&lt;filter&gt;])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Evaluates the value of the expression for the dates in the quarter to date, in the current context.</a:t>
                      </a: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48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/>
                        </a:rPr>
                        <a:t>TOTALYTD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TOTALYTD(&lt;expression&gt;,&lt;dates&gt;[,&lt;filter&gt;][,&lt;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year_end_date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&gt;])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Evaluates the year-to-date value of the expression in the current context.</a:t>
                      </a:r>
                    </a:p>
                  </a:txBody>
                  <a:tcPr marL="72249" marR="72249" marT="36124" marB="3612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6377" y="660269"/>
          <a:ext cx="10006642" cy="5444123"/>
        </p:xfrm>
        <a:graphic>
          <a:graphicData uri="http://schemas.openxmlformats.org/drawingml/2006/table">
            <a:tbl>
              <a:tblPr/>
              <a:tblGrid>
                <a:gridCol w="4520242"/>
                <a:gridCol w="5486400"/>
              </a:tblGrid>
              <a:tr h="77409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/>
                        </a:rPr>
                        <a:t>ENDOFMONTH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ENDOFMONTH(&lt;dates&gt;)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last date of the month in the current context for the specified column of dates.</a:t>
                      </a: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09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ENDOFQUARTER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ENDOFQUARTER(&lt;dates&gt;)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last date of the quarter in the current context for the specified column of dates.</a:t>
                      </a: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09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/>
                        </a:rPr>
                        <a:t>ENDOFYEAR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ENDOFYEAR(&lt;dates&gt; [,&lt;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year_end_date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&gt;])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last date of the year in the current context for the specified column of dates.</a:t>
                      </a: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545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/>
                        </a:rPr>
                        <a:t>FIRSTDATE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FIRSTDATE(&lt;dates&gt;)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first date in the current context for the specified column of dates.</a:t>
                      </a: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73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/>
                        </a:rPr>
                        <a:t>FIRSTNONBLANK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FIRSTNONBLANK(&lt;column&gt;,&lt;expression&gt;)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first value in the column, column, filtered by the current context, where the expression is not blank</a:t>
                      </a: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545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/>
                        </a:rPr>
                        <a:t>LASTDATE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LASTDATE(&lt;dates&gt;)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last date in the current context for the specified column of dates.</a:t>
                      </a: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73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/>
                        </a:rPr>
                        <a:t>LASTNONBLANK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LASTNONBLANK(&lt;column&gt;,&lt;expression&gt;) </a:t>
                      </a:r>
                      <a:endParaRPr lang="en-US" sz="1800" u="none" strike="noStrik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last value in the column, column, filtered by the current context, where the expression is not blank.</a:t>
                      </a:r>
                    </a:p>
                  </a:txBody>
                  <a:tcPr marL="59546" marR="59546" marT="29773" marB="29773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25906" y="665036"/>
            <a:ext cx="1834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PARALLELPERIOD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2761624" y="673662"/>
            <a:ext cx="5926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PARALLELPERIOD(&lt;dates&gt;,&lt;</a:t>
            </a:r>
            <a:r>
              <a:rPr lang="en-US" dirty="0" err="1" smtClean="0"/>
              <a:t>number_of_intervals</a:t>
            </a:r>
            <a:r>
              <a:rPr lang="en-US" dirty="0" smtClean="0"/>
              <a:t>&gt;,&lt;interval&gt;)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5335" y="1256005"/>
          <a:ext cx="8842076" cy="2377440"/>
        </p:xfrm>
        <a:graphic>
          <a:graphicData uri="http://schemas.openxmlformats.org/drawingml/2006/table">
            <a:tbl>
              <a:tblPr/>
              <a:tblGrid>
                <a:gridCol w="3976778"/>
                <a:gridCol w="486529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Term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/>
                        <a:t>Definition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dates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A column that contains dates.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number_of_intervals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An integer that specifies the number of intervals to add to or subtract from the dates.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interval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The interval by which to shift the dates. The value for interval can be one of the following: year, quarter, month.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98740" y="3950899"/>
            <a:ext cx="1067950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This function takes the current set of dates in the column specified by </a:t>
            </a:r>
            <a:r>
              <a:rPr lang="en-US" b="1" dirty="0" smtClean="0"/>
              <a:t>dates</a:t>
            </a:r>
            <a:r>
              <a:rPr lang="en-US" dirty="0" smtClean="0"/>
              <a:t>, shifts the first date and the last date the specified number of intervals, and then returns all contiguous dates between the two shifted dates. 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If </a:t>
            </a:r>
            <a:r>
              <a:rPr lang="en-US" dirty="0" smtClean="0"/>
              <a:t>the interval is a partial range of month, quarter, or year then any partial months in the result are also filled out to complete the entire interval.</a:t>
            </a:r>
          </a:p>
          <a:p>
            <a:r>
              <a:rPr lang="en-US" dirty="0" smtClean="0"/>
              <a:t>The </a:t>
            </a:r>
            <a:r>
              <a:rPr lang="en-US" b="1" dirty="0" smtClean="0"/>
              <a:t>dates</a:t>
            </a:r>
            <a:r>
              <a:rPr lang="en-US" dirty="0" smtClean="0"/>
              <a:t> argument can be any of the following: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 reference to a date/time column,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 table expression that returns a single column of date/time </a:t>
            </a:r>
            <a:r>
              <a:rPr lang="en-US" dirty="0" smtClean="0"/>
              <a:t>values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0203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998</Words>
  <Application>Microsoft Office PowerPoint</Application>
  <PresentationFormat>Custom</PresentationFormat>
  <Paragraphs>126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Time Intelligence DAX Expressions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DAX Expressions</dc:title>
  <dc:creator>HP</dc:creator>
  <cp:lastModifiedBy>HP</cp:lastModifiedBy>
  <cp:revision>23</cp:revision>
  <dcterms:created xsi:type="dcterms:W3CDTF">2023-08-11T12:58:01Z</dcterms:created>
  <dcterms:modified xsi:type="dcterms:W3CDTF">2023-08-18T17:56:01Z</dcterms:modified>
</cp:coreProperties>
</file>